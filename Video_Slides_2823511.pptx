
<file path=[Content_Types].xml><?xml version="1.0" encoding="utf-8"?>
<Types xmlns="http://schemas.openxmlformats.org/package/2006/content-types">
  <Default Extension="gif" ContentType="image/gif"/>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63" d="100"/>
          <a:sy n="163" d="100"/>
        </p:scale>
        <p:origin x="18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0506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drones searching an area nobody has mapped. Nothing telling them where to go, and no radio between them. I wanted to know whether a swarm that learns can cover as much ground as the methods people already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hundred and fifty metre block, six drones, seven hundred steps. This is a real run, about a hundred steps in. Each drone only sees that small box — twenty-one metres out of a hundred and fifty. And they can't talk to each other.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four controllers, from none of them learning to all six learning. Two classical ones, then a hybrid where only one drone learns, then mine, where all six share one network. Sixteen hundred runs. Every controller got the exact same layout on every seed, so I could compare them run against run.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and the two lines cross. Mine clears the ninety percent target at every obstacle density, on both sets of layouts. So does potential fields. In open ground mine wins by about five points. Once obstacles appear I can't separate them statistically, and at the hardest density potential fields is slightly ahead. So it matches the classical controller. It doesn't beat it everywhere.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they are on the same layout, from the same starting point. Watch the classical swarm funnel along the gaps between buildings. Mine pushes outward and splits the area up — and none of those six is telling the others where it's going.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 I found most useful wasn't in that comparison at all. I kept the network, the budget, the seed and everything the drones see the same, and changed one thing: what they're rewarded for. Reward each drone for the ground it covers first, and it works. Reward them on the team total, and coverage drops thirty point six points — not one run in fifty reaches the target. That's a bigger drop than the gap between any two controllers I tested.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checked my own experiments, and some of it went against me. An earlier draft reported a number I couldn't reproduce. The model that survived scores ninety, not ninety-five, which reverses what I'd concluded. Four training seeds showed I'd stopped training too early. And potential fields only looks like it improves as obstacles increase — counting actual cells, it covers six hundred and forty fewer.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swarm that learns, with no messages between the drones, matches a well-tuned classical controller and beats it in open ground. What I rewarded them for mattered more than the network. And measuring coverage as a percentage misleads whenever the open ground changes.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png"/><Relationship Id="rId5" Type="http://schemas.openxmlformats.org/officeDocument/2006/relationships/image" Target="../media/image4.gi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3"/>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7863840" cy="1463040"/>
          </a:xfrm>
          <a:prstGeom prst="rect">
            <a:avLst/>
          </a:prstGeom>
          <a:noFill/>
          <a:ln/>
        </p:spPr>
        <p:txBody>
          <a:bodyPr wrap="square"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Autonomous Decentralised Search</a:t>
            </a:r>
            <a:endParaRPr lang="en-US" sz="3400" dirty="0"/>
          </a:p>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and Coverage with UAS Swarms</a:t>
            </a:r>
            <a:endParaRPr lang="en-US" sz="3400" dirty="0"/>
          </a:p>
        </p:txBody>
      </p:sp>
      <p:sp>
        <p:nvSpPr>
          <p:cNvPr id="3" name="Shape 1"/>
          <p:cNvSpPr/>
          <p:nvPr/>
        </p:nvSpPr>
        <p:spPr>
          <a:xfrm>
            <a:off x="640080" y="3063240"/>
            <a:ext cx="118872" cy="118872"/>
          </a:xfrm>
          <a:prstGeom prst="ellipse">
            <a:avLst/>
          </a:prstGeom>
          <a:solidFill>
            <a:srgbClr val="1F9E89"/>
          </a:solidFill>
          <a:ln/>
        </p:spPr>
        <p:txBody>
          <a:bodyPr/>
          <a:lstStyle/>
          <a:p>
            <a:endParaRPr lang="en-US"/>
          </a:p>
        </p:txBody>
      </p:sp>
      <p:sp>
        <p:nvSpPr>
          <p:cNvPr id="4" name="Text 2"/>
          <p:cNvSpPr txBox="1"/>
          <p:nvPr/>
        </p:nvSpPr>
        <p:spPr>
          <a:xfrm>
            <a:off x="914400" y="2944368"/>
            <a:ext cx="7498080" cy="640080"/>
          </a:xfrm>
          <a:prstGeom prst="rect">
            <a:avLst/>
          </a:prstGeom>
          <a:noFill/>
          <a:ln/>
        </p:spPr>
        <p:txBody>
          <a:bodyPr wrap="square" rtlCol="0" anchor="ctr"/>
          <a:lstStyle/>
          <a:p>
            <a:pPr marL="0" indent="0">
              <a:lnSpc>
                <a:spcPts val="2200"/>
              </a:lnSpc>
              <a:buNone/>
            </a:pPr>
            <a:r>
              <a:rPr lang="en-US" sz="1500" i="1" dirty="0">
                <a:solidFill>
                  <a:srgbClr val="AEBFC9"/>
                </a:solidFill>
                <a:latin typeface="Calibri" pitchFamily="34" charset="0"/>
                <a:ea typeface="Calibri" pitchFamily="34" charset="-122"/>
                <a:cs typeface="Calibri" pitchFamily="34" charset="-120"/>
              </a:rPr>
              <a:t>Can six UAVs sweep an unknown area with no controller,</a:t>
            </a:r>
            <a:endParaRPr lang="en-US" sz="1500" dirty="0"/>
          </a:p>
          <a:p>
            <a:pPr marL="0" indent="0">
              <a:lnSpc>
                <a:spcPts val="2200"/>
              </a:lnSpc>
              <a:buNone/>
            </a:pPr>
            <a:r>
              <a:rPr lang="en-US" sz="1500" i="1" dirty="0">
                <a:solidFill>
                  <a:srgbClr val="AEBFC9"/>
                </a:solidFill>
                <a:latin typeface="Calibri" pitchFamily="34" charset="0"/>
                <a:ea typeface="Calibri" pitchFamily="34" charset="-122"/>
                <a:cs typeface="Calibri" pitchFamily="34" charset="-120"/>
              </a:rPr>
              <a:t>no map, and no messages between them?</a:t>
            </a:r>
            <a:endParaRPr lang="en-US" sz="1500" dirty="0"/>
          </a:p>
        </p:txBody>
      </p:sp>
      <p:sp>
        <p:nvSpPr>
          <p:cNvPr id="5" name="Text 3"/>
          <p:cNvSpPr txBox="1"/>
          <p:nvPr/>
        </p:nvSpPr>
        <p:spPr>
          <a:xfrm>
            <a:off x="640080" y="4114800"/>
            <a:ext cx="7863840" cy="274320"/>
          </a:xfrm>
          <a:prstGeom prst="rect">
            <a:avLst/>
          </a:prstGeom>
          <a:noFill/>
          <a:ln/>
        </p:spPr>
        <p:txBody>
          <a:bodyPr wrap="square" rtlCol="0" anchor="ctr"/>
          <a:lstStyle/>
          <a:p>
            <a:pPr marL="0" indent="0">
              <a:buNone/>
            </a:pPr>
            <a:r>
              <a:rPr lang="en-US" sz="1200" dirty="0">
                <a:solidFill>
                  <a:srgbClr val="8CA3B0"/>
                </a:solidFill>
                <a:latin typeface="Calibri" pitchFamily="34" charset="0"/>
                <a:ea typeface="Calibri" pitchFamily="34" charset="-122"/>
                <a:cs typeface="Calibri" pitchFamily="34" charset="-120"/>
              </a:rPr>
              <a:t>Mahadev Reddy Devireddy Venkata   ·   2823511   ·   MSc Robotics</a:t>
            </a:r>
            <a:endParaRPr lang="en-US" sz="1200" dirty="0"/>
          </a:p>
        </p:txBody>
      </p:sp>
      <p:sp>
        <p:nvSpPr>
          <p:cNvPr id="6" name="Text 4"/>
          <p:cNvSpPr txBox="1"/>
          <p:nvPr/>
        </p:nvSpPr>
        <p:spPr>
          <a:xfrm>
            <a:off x="640080" y="4389120"/>
            <a:ext cx="7863840" cy="274320"/>
          </a:xfrm>
          <a:prstGeom prst="rect">
            <a:avLst/>
          </a:prstGeom>
          <a:noFill/>
          <a:ln/>
        </p:spPr>
        <p:txBody>
          <a:bodyPr wrap="square" rtlCol="0" anchor="ctr"/>
          <a:lstStyle/>
          <a:p>
            <a:pPr marL="0" indent="0">
              <a:buNone/>
            </a:pPr>
            <a:r>
              <a:rPr lang="en-US" sz="1200" dirty="0">
                <a:solidFill>
                  <a:srgbClr val="8CA3B0"/>
                </a:solidFill>
                <a:latin typeface="Calibri" pitchFamily="34" charset="0"/>
                <a:ea typeface="Calibri" pitchFamily="34" charset="-122"/>
                <a:cs typeface="Calibri" pitchFamily="34" charset="-120"/>
              </a:rPr>
              <a:t>Supervisor: Dr Davood Asadi   ·   University of Bristol &amp; UWE</a:t>
            </a:r>
            <a:endParaRPr lang="en-US" sz="1200" dirty="0"/>
          </a:p>
        </p:txBody>
      </p:sp>
      <p:pic>
        <p:nvPicPr>
          <p:cNvPr id="22" name="Audio 21">
            <a:extLst>
              <a:ext uri="{FF2B5EF4-FFF2-40B4-BE49-F238E27FC236}">
                <a16:creationId xmlns:a16="http://schemas.microsoft.com/office/drawing/2014/main" id="{8304EDDF-DE51-CFDC-1C99-D3E45FED738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695"/>
    </mc:Choice>
    <mc:Fallback>
      <p:transition spd="slow" advTm="186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4572000" cy="548640"/>
          </a:xfrm>
          <a:prstGeom prst="rect">
            <a:avLst/>
          </a:prstGeom>
          <a:noFill/>
          <a:ln/>
        </p:spPr>
        <p:txBody>
          <a:bodyPr wrap="square" rtlCol="0" anchor="ctr"/>
          <a:lstStyle/>
          <a:p>
            <a:pPr marL="0" indent="0">
              <a:buNone/>
            </a:pPr>
            <a:r>
              <a:rPr lang="en-US" sz="3400" b="1" dirty="0">
                <a:solidFill>
                  <a:srgbClr val="22303C"/>
                </a:solidFill>
                <a:latin typeface="Cambria" pitchFamily="34" charset="0"/>
                <a:ea typeface="Cambria" pitchFamily="34" charset="-122"/>
                <a:cs typeface="Cambria" pitchFamily="34" charset="-120"/>
              </a:rPr>
              <a:t>The task</a:t>
            </a:r>
            <a:endParaRPr lang="en-US" sz="3400" dirty="0"/>
          </a:p>
        </p:txBody>
      </p:sp>
      <p:sp>
        <p:nvSpPr>
          <p:cNvPr id="3" name="Text 1"/>
          <p:cNvSpPr txBox="1"/>
          <p:nvPr/>
        </p:nvSpPr>
        <p:spPr>
          <a:xfrm>
            <a:off x="548640" y="1188720"/>
            <a:ext cx="4023360" cy="868680"/>
          </a:xfrm>
          <a:prstGeom prst="rect">
            <a:avLst/>
          </a:prstGeom>
          <a:noFill/>
          <a:ln/>
        </p:spPr>
        <p:txBody>
          <a:bodyPr wrap="square" rtlCol="0" anchor="ctr"/>
          <a:lstStyle/>
          <a:p>
            <a:pPr marL="0" indent="0">
              <a:lnSpc>
                <a:spcPts val="2500"/>
              </a:lnSpc>
              <a:buNone/>
            </a:pPr>
            <a:r>
              <a:rPr lang="en-US" sz="1600" dirty="0">
                <a:solidFill>
                  <a:srgbClr val="5A6B75"/>
                </a:solidFill>
                <a:latin typeface="Calibri" pitchFamily="34" charset="0"/>
                <a:ea typeface="Calibri" pitchFamily="34" charset="-122"/>
                <a:cs typeface="Calibri" pitchFamily="34" charset="-120"/>
              </a:rPr>
              <a:t>A 150 m × 150 m block after an earthquake.</a:t>
            </a:r>
            <a:endParaRPr lang="en-US" sz="1600" dirty="0"/>
          </a:p>
          <a:p>
            <a:pPr marL="0" indent="0">
              <a:lnSpc>
                <a:spcPts val="2500"/>
              </a:lnSpc>
              <a:buNone/>
            </a:pPr>
            <a:r>
              <a:rPr lang="en-US" sz="1600" dirty="0">
                <a:solidFill>
                  <a:srgbClr val="5A6B75"/>
                </a:solidFill>
                <a:latin typeface="Calibri" pitchFamily="34" charset="0"/>
                <a:ea typeface="Calibri" pitchFamily="34" charset="-122"/>
                <a:cs typeface="Calibri" pitchFamily="34" charset="-120"/>
              </a:rPr>
              <a:t>Six UAVs, 700 steps, one launch point.</a:t>
            </a:r>
            <a:endParaRPr lang="en-US" sz="1600" dirty="0"/>
          </a:p>
        </p:txBody>
      </p:sp>
      <p:sp>
        <p:nvSpPr>
          <p:cNvPr id="4" name="Shape 2"/>
          <p:cNvSpPr/>
          <p:nvPr/>
        </p:nvSpPr>
        <p:spPr>
          <a:xfrm>
            <a:off x="566928" y="2487168"/>
            <a:ext cx="109728" cy="109728"/>
          </a:xfrm>
          <a:prstGeom prst="ellipse">
            <a:avLst/>
          </a:prstGeom>
          <a:solidFill>
            <a:srgbClr val="1F9E89"/>
          </a:solidFill>
          <a:ln/>
        </p:spPr>
        <p:txBody>
          <a:bodyPr/>
          <a:lstStyle/>
          <a:p>
            <a:endParaRPr lang="en-US"/>
          </a:p>
        </p:txBody>
      </p:sp>
      <p:sp>
        <p:nvSpPr>
          <p:cNvPr id="5" name="Text 3"/>
          <p:cNvSpPr txBox="1"/>
          <p:nvPr/>
        </p:nvSpPr>
        <p:spPr>
          <a:xfrm>
            <a:off x="841248" y="2359152"/>
            <a:ext cx="3840480" cy="365760"/>
          </a:xfrm>
          <a:prstGeom prst="rect">
            <a:avLst/>
          </a:prstGeom>
          <a:noFill/>
          <a:ln/>
        </p:spPr>
        <p:txBody>
          <a:bodyPr wrap="square" rtlCol="0" anchor="ctr"/>
          <a:lstStyle/>
          <a:p>
            <a:pPr marL="0" indent="0">
              <a:buNone/>
            </a:pPr>
            <a:r>
              <a:rPr lang="en-US" sz="1600" b="1" dirty="0">
                <a:solidFill>
                  <a:srgbClr val="22303C"/>
                </a:solidFill>
                <a:latin typeface="Calibri" pitchFamily="34" charset="0"/>
                <a:ea typeface="Calibri" pitchFamily="34" charset="-122"/>
                <a:cs typeface="Calibri" pitchFamily="34" charset="-120"/>
              </a:rPr>
              <a:t>Each agent sees 7×7 cells</a:t>
            </a:r>
            <a:endParaRPr lang="en-US" sz="1600" dirty="0"/>
          </a:p>
        </p:txBody>
      </p:sp>
      <p:sp>
        <p:nvSpPr>
          <p:cNvPr id="6" name="Shape 4"/>
          <p:cNvSpPr/>
          <p:nvPr/>
        </p:nvSpPr>
        <p:spPr>
          <a:xfrm>
            <a:off x="566928" y="3054096"/>
            <a:ext cx="109728" cy="109728"/>
          </a:xfrm>
          <a:prstGeom prst="ellipse">
            <a:avLst/>
          </a:prstGeom>
          <a:solidFill>
            <a:srgbClr val="5A6B75"/>
          </a:solidFill>
          <a:ln/>
        </p:spPr>
        <p:txBody>
          <a:bodyPr/>
          <a:lstStyle/>
          <a:p>
            <a:endParaRPr lang="en-US"/>
          </a:p>
        </p:txBody>
      </p:sp>
      <p:sp>
        <p:nvSpPr>
          <p:cNvPr id="7" name="Text 5"/>
          <p:cNvSpPr txBox="1"/>
          <p:nvPr/>
        </p:nvSpPr>
        <p:spPr>
          <a:xfrm>
            <a:off x="841248" y="2926080"/>
            <a:ext cx="3840480" cy="365760"/>
          </a:xfrm>
          <a:prstGeom prst="rect">
            <a:avLst/>
          </a:prstGeom>
          <a:noFill/>
          <a:ln/>
        </p:spPr>
        <p:txBody>
          <a:bodyPr wrap="square" rtlCol="0" anchor="ctr"/>
          <a:lstStyle/>
          <a:p>
            <a:pPr marL="0" indent="0">
              <a:buNone/>
            </a:pPr>
            <a:r>
              <a:rPr lang="en-US" sz="1600" dirty="0">
                <a:solidFill>
                  <a:srgbClr val="5A6B75"/>
                </a:solidFill>
                <a:latin typeface="Calibri" pitchFamily="34" charset="0"/>
                <a:ea typeface="Calibri" pitchFamily="34" charset="-122"/>
                <a:cs typeface="Calibri" pitchFamily="34" charset="-120"/>
              </a:rPr>
              <a:t>21 m of a 150 m block</a:t>
            </a:r>
            <a:endParaRPr lang="en-US" sz="1600" dirty="0"/>
          </a:p>
        </p:txBody>
      </p:sp>
      <p:sp>
        <p:nvSpPr>
          <p:cNvPr id="8" name="Shape 6"/>
          <p:cNvSpPr/>
          <p:nvPr/>
        </p:nvSpPr>
        <p:spPr>
          <a:xfrm>
            <a:off x="566928" y="3621024"/>
            <a:ext cx="109728" cy="109728"/>
          </a:xfrm>
          <a:prstGeom prst="ellipse">
            <a:avLst/>
          </a:prstGeom>
          <a:solidFill>
            <a:srgbClr val="D64550"/>
          </a:solidFill>
          <a:ln/>
        </p:spPr>
        <p:txBody>
          <a:bodyPr/>
          <a:lstStyle/>
          <a:p>
            <a:endParaRPr lang="en-US"/>
          </a:p>
        </p:txBody>
      </p:sp>
      <p:sp>
        <p:nvSpPr>
          <p:cNvPr id="9" name="Text 7"/>
          <p:cNvSpPr txBox="1"/>
          <p:nvPr/>
        </p:nvSpPr>
        <p:spPr>
          <a:xfrm>
            <a:off x="841248" y="3493008"/>
            <a:ext cx="3840480" cy="365760"/>
          </a:xfrm>
          <a:prstGeom prst="rect">
            <a:avLst/>
          </a:prstGeom>
          <a:noFill/>
          <a:ln/>
        </p:spPr>
        <p:txBody>
          <a:bodyPr wrap="square" rtlCol="0" anchor="ctr"/>
          <a:lstStyle/>
          <a:p>
            <a:pPr marL="0" indent="0">
              <a:buNone/>
            </a:pPr>
            <a:r>
              <a:rPr lang="en-US" sz="1600" b="1" dirty="0">
                <a:solidFill>
                  <a:srgbClr val="22303C"/>
                </a:solidFill>
                <a:latin typeface="Calibri" pitchFamily="34" charset="0"/>
                <a:ea typeface="Calibri" pitchFamily="34" charset="-122"/>
                <a:cs typeface="Calibri" pitchFamily="34" charset="-120"/>
              </a:rPr>
              <a:t>No agent sends a message</a:t>
            </a:r>
            <a:endParaRPr lang="en-US" sz="1600" dirty="0"/>
          </a:p>
        </p:txBody>
      </p:sp>
      <p:sp>
        <p:nvSpPr>
          <p:cNvPr id="10" name="Shape 8"/>
          <p:cNvSpPr/>
          <p:nvPr/>
        </p:nvSpPr>
        <p:spPr>
          <a:xfrm>
            <a:off x="566928" y="4187952"/>
            <a:ext cx="109728" cy="109728"/>
          </a:xfrm>
          <a:prstGeom prst="ellipse">
            <a:avLst/>
          </a:prstGeom>
          <a:solidFill>
            <a:srgbClr val="5A6B75"/>
          </a:solidFill>
          <a:ln/>
        </p:spPr>
        <p:txBody>
          <a:bodyPr/>
          <a:lstStyle/>
          <a:p>
            <a:endParaRPr lang="en-US"/>
          </a:p>
        </p:txBody>
      </p:sp>
      <p:sp>
        <p:nvSpPr>
          <p:cNvPr id="11" name="Text 9"/>
          <p:cNvSpPr txBox="1"/>
          <p:nvPr/>
        </p:nvSpPr>
        <p:spPr>
          <a:xfrm>
            <a:off x="841248" y="4059936"/>
            <a:ext cx="3840480" cy="365760"/>
          </a:xfrm>
          <a:prstGeom prst="rect">
            <a:avLst/>
          </a:prstGeom>
          <a:noFill/>
          <a:ln/>
        </p:spPr>
        <p:txBody>
          <a:bodyPr wrap="square" rtlCol="0" anchor="ctr"/>
          <a:lstStyle/>
          <a:p>
            <a:pPr marL="0" indent="0">
              <a:buNone/>
            </a:pPr>
            <a:r>
              <a:rPr lang="en-US" sz="1600" dirty="0">
                <a:solidFill>
                  <a:srgbClr val="5A6B75"/>
                </a:solidFill>
                <a:latin typeface="Calibri" pitchFamily="34" charset="0"/>
                <a:ea typeface="Calibri" pitchFamily="34" charset="-122"/>
                <a:cs typeface="Calibri" pitchFamily="34" charset="-120"/>
              </a:rPr>
              <a:t>Coordination must emerge</a:t>
            </a:r>
            <a:endParaRPr lang="en-US" sz="1600" dirty="0"/>
          </a:p>
        </p:txBody>
      </p:sp>
      <p:pic>
        <p:nvPicPr>
          <p:cNvPr id="12" name="Image 0" descr="arena.png"/>
          <p:cNvPicPr>
            <a:picLocks noChangeAspect="1"/>
          </p:cNvPicPr>
          <p:nvPr/>
        </p:nvPicPr>
        <p:blipFill>
          <a:blip r:embed="rId5"/>
          <a:stretch>
            <a:fillRect/>
          </a:stretch>
        </p:blipFill>
        <p:spPr>
          <a:xfrm>
            <a:off x="4617720" y="777240"/>
            <a:ext cx="4069080" cy="2724912"/>
          </a:xfrm>
          <a:prstGeom prst="rect">
            <a:avLst/>
          </a:prstGeom>
        </p:spPr>
      </p:pic>
      <p:sp>
        <p:nvSpPr>
          <p:cNvPr id="13" name="Text 10"/>
          <p:cNvSpPr txBox="1"/>
          <p:nvPr/>
        </p:nvSpPr>
        <p:spPr>
          <a:xfrm>
            <a:off x="4617720" y="3584448"/>
            <a:ext cx="4069080" cy="274320"/>
          </a:xfrm>
          <a:prstGeom prst="rect">
            <a:avLst/>
          </a:prstGeom>
          <a:noFill/>
          <a:ln/>
        </p:spPr>
        <p:txBody>
          <a:bodyPr wrap="square" rtlCol="0" anchor="ctr"/>
          <a:lstStyle/>
          <a:p>
            <a:pPr marL="0" indent="0" algn="ctr">
              <a:buNone/>
            </a:pPr>
            <a:r>
              <a:rPr lang="en-US" sz="1100" dirty="0">
                <a:solidFill>
                  <a:srgbClr val="5A6B75"/>
                </a:solidFill>
                <a:latin typeface="Calibri" pitchFamily="34" charset="0"/>
                <a:ea typeface="Calibri" pitchFamily="34" charset="-122"/>
                <a:cs typeface="Calibri" pitchFamily="34" charset="-120"/>
              </a:rPr>
              <a:t>One real seeded layout, the deployed policy 110 steps in</a:t>
            </a:r>
            <a:endParaRPr lang="en-US" sz="1100" dirty="0"/>
          </a:p>
        </p:txBody>
      </p:sp>
      <p:pic>
        <p:nvPicPr>
          <p:cNvPr id="28" name="Audio 27">
            <a:extLst>
              <a:ext uri="{FF2B5EF4-FFF2-40B4-BE49-F238E27FC236}">
                <a16:creationId xmlns:a16="http://schemas.microsoft.com/office/drawing/2014/main" id="{F76F51F5-E2A0-24DC-D511-4A57C266774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819"/>
    </mc:Choice>
    <mc:Fallback>
      <p:transition spd="slow" advTm="198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rtlCol="0" anchor="ctr"/>
          <a:lstStyle/>
          <a:p>
            <a:pPr marL="0" indent="0">
              <a:buNone/>
            </a:pPr>
            <a:r>
              <a:rPr lang="en-US" sz="3400" b="1" dirty="0">
                <a:solidFill>
                  <a:srgbClr val="22303C"/>
                </a:solidFill>
                <a:latin typeface="Cambria" pitchFamily="34" charset="0"/>
                <a:ea typeface="Cambria" pitchFamily="34" charset="-122"/>
                <a:cs typeface="Cambria" pitchFamily="34" charset="-120"/>
              </a:rPr>
              <a:t>What I built and tested</a:t>
            </a:r>
            <a:endParaRPr lang="en-US" sz="3400" dirty="0"/>
          </a:p>
        </p:txBody>
      </p:sp>
      <p:sp>
        <p:nvSpPr>
          <p:cNvPr id="3" name="Shape 1"/>
          <p:cNvSpPr/>
          <p:nvPr/>
        </p:nvSpPr>
        <p:spPr>
          <a:xfrm>
            <a:off x="548640" y="1298448"/>
            <a:ext cx="1847088" cy="1371600"/>
          </a:xfrm>
          <a:prstGeom prst="roundRect">
            <a:avLst>
              <a:gd name="adj" fmla="val 5333"/>
            </a:avLst>
          </a:prstGeom>
          <a:solidFill>
            <a:srgbClr val="F5F8F9"/>
          </a:solidFill>
          <a:ln w="9525">
            <a:solidFill>
              <a:srgbClr val="4878A8"/>
            </a:solidFill>
            <a:prstDash val="solid"/>
          </a:ln>
        </p:spPr>
        <p:txBody>
          <a:bodyPr/>
          <a:lstStyle/>
          <a:p>
            <a:endParaRPr lang="en-US"/>
          </a:p>
        </p:txBody>
      </p:sp>
      <p:sp>
        <p:nvSpPr>
          <p:cNvPr id="4" name="Text 2"/>
          <p:cNvSpPr txBox="1"/>
          <p:nvPr/>
        </p:nvSpPr>
        <p:spPr>
          <a:xfrm>
            <a:off x="676656" y="1426464"/>
            <a:ext cx="1591056" cy="256032"/>
          </a:xfrm>
          <a:prstGeom prst="rect">
            <a:avLst/>
          </a:prstGeom>
          <a:noFill/>
          <a:ln/>
        </p:spPr>
        <p:txBody>
          <a:bodyPr wrap="square" rtlCol="0" anchor="ctr"/>
          <a:lstStyle/>
          <a:p>
            <a:pPr marL="0" indent="0">
              <a:buNone/>
            </a:pPr>
            <a:r>
              <a:rPr lang="en-US" sz="1050" b="1" dirty="0">
                <a:solidFill>
                  <a:srgbClr val="4878A8"/>
                </a:solidFill>
                <a:latin typeface="Calibri" pitchFamily="34" charset="0"/>
                <a:ea typeface="Calibri" pitchFamily="34" charset="-122"/>
                <a:cs typeface="Calibri" pitchFamily="34" charset="-120"/>
              </a:rPr>
              <a:t>0 learn</a:t>
            </a:r>
            <a:endParaRPr lang="en-US" sz="1050" dirty="0"/>
          </a:p>
        </p:txBody>
      </p:sp>
      <p:sp>
        <p:nvSpPr>
          <p:cNvPr id="5" name="Text 3"/>
          <p:cNvSpPr txBox="1"/>
          <p:nvPr/>
        </p:nvSpPr>
        <p:spPr>
          <a:xfrm>
            <a:off x="676656" y="1719072"/>
            <a:ext cx="1591056" cy="365760"/>
          </a:xfrm>
          <a:prstGeom prst="rect">
            <a:avLst/>
          </a:prstGeom>
          <a:noFill/>
          <a:ln/>
        </p:spPr>
        <p:txBody>
          <a:bodyPr wrap="square" rtlCol="0" anchor="ctr"/>
          <a:lstStyle/>
          <a:p>
            <a:pPr marL="0" indent="0">
              <a:buNone/>
            </a:pPr>
            <a:r>
              <a:rPr lang="en-US" sz="1700" b="1" dirty="0">
                <a:solidFill>
                  <a:srgbClr val="22303C"/>
                </a:solidFill>
                <a:latin typeface="Calibri" pitchFamily="34" charset="0"/>
                <a:ea typeface="Calibri" pitchFamily="34" charset="-122"/>
                <a:cs typeface="Calibri" pitchFamily="34" charset="-120"/>
              </a:rPr>
              <a:t>Boids</a:t>
            </a:r>
            <a:endParaRPr lang="en-US" sz="1700" dirty="0"/>
          </a:p>
        </p:txBody>
      </p:sp>
      <p:sp>
        <p:nvSpPr>
          <p:cNvPr id="6" name="Text 4"/>
          <p:cNvSpPr txBox="1"/>
          <p:nvPr/>
        </p:nvSpPr>
        <p:spPr>
          <a:xfrm>
            <a:off x="676656" y="2103120"/>
            <a:ext cx="1591056" cy="502920"/>
          </a:xfrm>
          <a:prstGeom prst="rect">
            <a:avLst/>
          </a:prstGeom>
          <a:noFill/>
          <a:ln/>
        </p:spPr>
        <p:txBody>
          <a:bodyPr wrap="square" rtlCol="0" anchor="ctr"/>
          <a:lstStyle/>
          <a:p>
            <a:pPr marL="0" indent="0">
              <a:lnSpc>
                <a:spcPts val="1500"/>
              </a:lnSpc>
              <a:buNone/>
            </a:pPr>
            <a:r>
              <a:rPr lang="en-US" sz="1150" dirty="0">
                <a:solidFill>
                  <a:srgbClr val="5A6B75"/>
                </a:solidFill>
                <a:latin typeface="Calibri" pitchFamily="34" charset="0"/>
                <a:ea typeface="Calibri" pitchFamily="34" charset="-122"/>
                <a:cs typeface="Calibri" pitchFamily="34" charset="-120"/>
              </a:rPr>
              <a:t>flocking rules</a:t>
            </a:r>
            <a:endParaRPr lang="en-US" sz="1150" dirty="0"/>
          </a:p>
        </p:txBody>
      </p:sp>
      <p:sp>
        <p:nvSpPr>
          <p:cNvPr id="7" name="Shape 5"/>
          <p:cNvSpPr/>
          <p:nvPr/>
        </p:nvSpPr>
        <p:spPr>
          <a:xfrm>
            <a:off x="2596896" y="1298448"/>
            <a:ext cx="1847088" cy="1371600"/>
          </a:xfrm>
          <a:prstGeom prst="roundRect">
            <a:avLst>
              <a:gd name="adj" fmla="val 5333"/>
            </a:avLst>
          </a:prstGeom>
          <a:solidFill>
            <a:srgbClr val="F5F8F9"/>
          </a:solidFill>
          <a:ln w="9525">
            <a:solidFill>
              <a:srgbClr val="D64550"/>
            </a:solidFill>
            <a:prstDash val="solid"/>
          </a:ln>
        </p:spPr>
        <p:txBody>
          <a:bodyPr/>
          <a:lstStyle/>
          <a:p>
            <a:endParaRPr lang="en-US"/>
          </a:p>
        </p:txBody>
      </p:sp>
      <p:sp>
        <p:nvSpPr>
          <p:cNvPr id="8" name="Text 6"/>
          <p:cNvSpPr txBox="1"/>
          <p:nvPr/>
        </p:nvSpPr>
        <p:spPr>
          <a:xfrm>
            <a:off x="2724912" y="1426464"/>
            <a:ext cx="1591056" cy="256032"/>
          </a:xfrm>
          <a:prstGeom prst="rect">
            <a:avLst/>
          </a:prstGeom>
          <a:noFill/>
          <a:ln/>
        </p:spPr>
        <p:txBody>
          <a:bodyPr wrap="square" rtlCol="0" anchor="ctr"/>
          <a:lstStyle/>
          <a:p>
            <a:pPr marL="0" indent="0">
              <a:buNone/>
            </a:pPr>
            <a:r>
              <a:rPr lang="en-US" sz="1050" b="1" dirty="0">
                <a:solidFill>
                  <a:srgbClr val="D64550"/>
                </a:solidFill>
                <a:latin typeface="Calibri" pitchFamily="34" charset="0"/>
                <a:ea typeface="Calibri" pitchFamily="34" charset="-122"/>
                <a:cs typeface="Calibri" pitchFamily="34" charset="-120"/>
              </a:rPr>
              <a:t>0 learn</a:t>
            </a:r>
            <a:endParaRPr lang="en-US" sz="1050" dirty="0"/>
          </a:p>
        </p:txBody>
      </p:sp>
      <p:sp>
        <p:nvSpPr>
          <p:cNvPr id="9" name="Text 7"/>
          <p:cNvSpPr txBox="1"/>
          <p:nvPr/>
        </p:nvSpPr>
        <p:spPr>
          <a:xfrm>
            <a:off x="2724912" y="1719072"/>
            <a:ext cx="1591056" cy="365760"/>
          </a:xfrm>
          <a:prstGeom prst="rect">
            <a:avLst/>
          </a:prstGeom>
          <a:noFill/>
          <a:ln/>
        </p:spPr>
        <p:txBody>
          <a:bodyPr wrap="square" rtlCol="0" anchor="ctr"/>
          <a:lstStyle/>
          <a:p>
            <a:pPr marL="0" indent="0">
              <a:buNone/>
            </a:pPr>
            <a:r>
              <a:rPr lang="en-US" sz="1700" b="1" dirty="0">
                <a:solidFill>
                  <a:srgbClr val="22303C"/>
                </a:solidFill>
                <a:latin typeface="Calibri" pitchFamily="34" charset="0"/>
                <a:ea typeface="Calibri" pitchFamily="34" charset="-122"/>
                <a:cs typeface="Calibri" pitchFamily="34" charset="-120"/>
              </a:rPr>
              <a:t>APF</a:t>
            </a:r>
            <a:endParaRPr lang="en-US" sz="1700" dirty="0"/>
          </a:p>
        </p:txBody>
      </p:sp>
      <p:sp>
        <p:nvSpPr>
          <p:cNvPr id="10" name="Text 8"/>
          <p:cNvSpPr txBox="1"/>
          <p:nvPr/>
        </p:nvSpPr>
        <p:spPr>
          <a:xfrm>
            <a:off x="2724912" y="2103120"/>
            <a:ext cx="1591056" cy="502920"/>
          </a:xfrm>
          <a:prstGeom prst="rect">
            <a:avLst/>
          </a:prstGeom>
          <a:noFill/>
          <a:ln/>
        </p:spPr>
        <p:txBody>
          <a:bodyPr wrap="square" rtlCol="0" anchor="ctr"/>
          <a:lstStyle/>
          <a:p>
            <a:pPr marL="0" indent="0">
              <a:lnSpc>
                <a:spcPts val="1500"/>
              </a:lnSpc>
              <a:buNone/>
            </a:pPr>
            <a:r>
              <a:rPr lang="en-US" sz="1150" dirty="0">
                <a:solidFill>
                  <a:srgbClr val="5A6B75"/>
                </a:solidFill>
                <a:latin typeface="Calibri" pitchFamily="34" charset="0"/>
                <a:ea typeface="Calibri" pitchFamily="34" charset="-122"/>
                <a:cs typeface="Calibri" pitchFamily="34" charset="-120"/>
              </a:rPr>
              <a:t>potential fields</a:t>
            </a:r>
            <a:endParaRPr lang="en-US" sz="1150" dirty="0"/>
          </a:p>
        </p:txBody>
      </p:sp>
      <p:sp>
        <p:nvSpPr>
          <p:cNvPr id="11" name="Shape 9"/>
          <p:cNvSpPr/>
          <p:nvPr/>
        </p:nvSpPr>
        <p:spPr>
          <a:xfrm>
            <a:off x="4645152" y="1298448"/>
            <a:ext cx="1847088" cy="1371600"/>
          </a:xfrm>
          <a:prstGeom prst="roundRect">
            <a:avLst>
              <a:gd name="adj" fmla="val 5333"/>
            </a:avLst>
          </a:prstGeom>
          <a:solidFill>
            <a:srgbClr val="F5F8F9"/>
          </a:solidFill>
          <a:ln w="9525">
            <a:solidFill>
              <a:srgbClr val="E8A33D"/>
            </a:solidFill>
            <a:prstDash val="solid"/>
          </a:ln>
        </p:spPr>
        <p:txBody>
          <a:bodyPr/>
          <a:lstStyle/>
          <a:p>
            <a:endParaRPr lang="en-US"/>
          </a:p>
        </p:txBody>
      </p:sp>
      <p:sp>
        <p:nvSpPr>
          <p:cNvPr id="12" name="Text 10"/>
          <p:cNvSpPr txBox="1"/>
          <p:nvPr/>
        </p:nvSpPr>
        <p:spPr>
          <a:xfrm>
            <a:off x="4773168" y="1426464"/>
            <a:ext cx="1591056" cy="256032"/>
          </a:xfrm>
          <a:prstGeom prst="rect">
            <a:avLst/>
          </a:prstGeom>
          <a:noFill/>
          <a:ln/>
        </p:spPr>
        <p:txBody>
          <a:bodyPr wrap="square" rtlCol="0" anchor="ctr"/>
          <a:lstStyle/>
          <a:p>
            <a:pPr marL="0" indent="0">
              <a:buNone/>
            </a:pPr>
            <a:r>
              <a:rPr lang="en-US" sz="1050" b="1" dirty="0">
                <a:solidFill>
                  <a:srgbClr val="E8A33D"/>
                </a:solidFill>
                <a:latin typeface="Calibri" pitchFamily="34" charset="0"/>
                <a:ea typeface="Calibri" pitchFamily="34" charset="-122"/>
                <a:cs typeface="Calibri" pitchFamily="34" charset="-120"/>
              </a:rPr>
              <a:t>1 learns</a:t>
            </a:r>
            <a:endParaRPr lang="en-US" sz="1050" dirty="0"/>
          </a:p>
        </p:txBody>
      </p:sp>
      <p:sp>
        <p:nvSpPr>
          <p:cNvPr id="13" name="Text 11"/>
          <p:cNvSpPr txBox="1"/>
          <p:nvPr/>
        </p:nvSpPr>
        <p:spPr>
          <a:xfrm>
            <a:off x="4773168" y="1719072"/>
            <a:ext cx="1591056" cy="365760"/>
          </a:xfrm>
          <a:prstGeom prst="rect">
            <a:avLst/>
          </a:prstGeom>
          <a:noFill/>
          <a:ln/>
        </p:spPr>
        <p:txBody>
          <a:bodyPr wrap="square" rtlCol="0" anchor="ctr"/>
          <a:lstStyle/>
          <a:p>
            <a:pPr marL="0" indent="0">
              <a:buNone/>
            </a:pPr>
            <a:r>
              <a:rPr lang="en-US" sz="1700" b="1" dirty="0">
                <a:solidFill>
                  <a:srgbClr val="22303C"/>
                </a:solidFill>
                <a:latin typeface="Calibri" pitchFamily="34" charset="0"/>
                <a:ea typeface="Calibri" pitchFamily="34" charset="-122"/>
                <a:cs typeface="Calibri" pitchFamily="34" charset="-120"/>
              </a:rPr>
              <a:t>PPO hybrid</a:t>
            </a:r>
            <a:endParaRPr lang="en-US" sz="1700" dirty="0"/>
          </a:p>
        </p:txBody>
      </p:sp>
      <p:sp>
        <p:nvSpPr>
          <p:cNvPr id="14" name="Text 12"/>
          <p:cNvSpPr txBox="1"/>
          <p:nvPr/>
        </p:nvSpPr>
        <p:spPr>
          <a:xfrm>
            <a:off x="4773168" y="2103120"/>
            <a:ext cx="1591056" cy="502920"/>
          </a:xfrm>
          <a:prstGeom prst="rect">
            <a:avLst/>
          </a:prstGeom>
          <a:noFill/>
          <a:ln/>
        </p:spPr>
        <p:txBody>
          <a:bodyPr wrap="square" rtlCol="0" anchor="ctr"/>
          <a:lstStyle/>
          <a:p>
            <a:pPr marL="0" indent="0">
              <a:lnSpc>
                <a:spcPts val="1500"/>
              </a:lnSpc>
              <a:buNone/>
            </a:pPr>
            <a:r>
              <a:rPr lang="en-US" sz="1150" dirty="0">
                <a:solidFill>
                  <a:srgbClr val="5A6B75"/>
                </a:solidFill>
                <a:latin typeface="Calibri" pitchFamily="34" charset="0"/>
                <a:ea typeface="Calibri" pitchFamily="34" charset="-122"/>
                <a:cs typeface="Calibri" pitchFamily="34" charset="-120"/>
              </a:rPr>
              <a:t>1 learned + 5 scripted</a:t>
            </a:r>
            <a:endParaRPr lang="en-US" sz="1150" dirty="0"/>
          </a:p>
        </p:txBody>
      </p:sp>
      <p:sp>
        <p:nvSpPr>
          <p:cNvPr id="15" name="Shape 13"/>
          <p:cNvSpPr/>
          <p:nvPr/>
        </p:nvSpPr>
        <p:spPr>
          <a:xfrm>
            <a:off x="6693408" y="1298448"/>
            <a:ext cx="1847088" cy="1371600"/>
          </a:xfrm>
          <a:prstGeom prst="roundRect">
            <a:avLst>
              <a:gd name="adj" fmla="val 5333"/>
            </a:avLst>
          </a:prstGeom>
          <a:solidFill>
            <a:srgbClr val="E9F5F2"/>
          </a:solidFill>
          <a:ln w="25400">
            <a:solidFill>
              <a:srgbClr val="1F9E89"/>
            </a:solidFill>
            <a:prstDash val="solid"/>
          </a:ln>
        </p:spPr>
        <p:txBody>
          <a:bodyPr/>
          <a:lstStyle/>
          <a:p>
            <a:endParaRPr lang="en-US"/>
          </a:p>
        </p:txBody>
      </p:sp>
      <p:sp>
        <p:nvSpPr>
          <p:cNvPr id="16" name="Text 14"/>
          <p:cNvSpPr txBox="1"/>
          <p:nvPr/>
        </p:nvSpPr>
        <p:spPr>
          <a:xfrm>
            <a:off x="6821424" y="1426464"/>
            <a:ext cx="1591056" cy="256032"/>
          </a:xfrm>
          <a:prstGeom prst="rect">
            <a:avLst/>
          </a:prstGeom>
          <a:noFill/>
          <a:ln/>
        </p:spPr>
        <p:txBody>
          <a:bodyPr wrap="square" rtlCol="0" anchor="ctr"/>
          <a:lstStyle/>
          <a:p>
            <a:pPr marL="0" indent="0">
              <a:buNone/>
            </a:pPr>
            <a:r>
              <a:rPr lang="en-US" sz="1050" b="1" dirty="0">
                <a:solidFill>
                  <a:srgbClr val="1F9E89"/>
                </a:solidFill>
                <a:latin typeface="Calibri" pitchFamily="34" charset="0"/>
                <a:ea typeface="Calibri" pitchFamily="34" charset="-122"/>
                <a:cs typeface="Calibri" pitchFamily="34" charset="-120"/>
              </a:rPr>
              <a:t>6 learn</a:t>
            </a:r>
            <a:endParaRPr lang="en-US" sz="1050" dirty="0"/>
          </a:p>
        </p:txBody>
      </p:sp>
      <p:sp>
        <p:nvSpPr>
          <p:cNvPr id="17" name="Text 15"/>
          <p:cNvSpPr txBox="1"/>
          <p:nvPr/>
        </p:nvSpPr>
        <p:spPr>
          <a:xfrm>
            <a:off x="6821424" y="1719072"/>
            <a:ext cx="1591056" cy="365760"/>
          </a:xfrm>
          <a:prstGeom prst="rect">
            <a:avLst/>
          </a:prstGeom>
          <a:noFill/>
          <a:ln/>
        </p:spPr>
        <p:txBody>
          <a:bodyPr wrap="square" rtlCol="0" anchor="ctr"/>
          <a:lstStyle/>
          <a:p>
            <a:pPr marL="0" indent="0">
              <a:buNone/>
            </a:pPr>
            <a:r>
              <a:rPr lang="en-US" sz="1700" b="1" dirty="0">
                <a:solidFill>
                  <a:srgbClr val="22303C"/>
                </a:solidFill>
                <a:latin typeface="Calibri" pitchFamily="34" charset="0"/>
                <a:ea typeface="Calibri" pitchFamily="34" charset="-122"/>
                <a:cs typeface="Calibri" pitchFamily="34" charset="-120"/>
              </a:rPr>
              <a:t>MARL</a:t>
            </a:r>
            <a:endParaRPr lang="en-US" sz="1700" dirty="0"/>
          </a:p>
        </p:txBody>
      </p:sp>
      <p:sp>
        <p:nvSpPr>
          <p:cNvPr id="18" name="Text 16"/>
          <p:cNvSpPr txBox="1"/>
          <p:nvPr/>
        </p:nvSpPr>
        <p:spPr>
          <a:xfrm>
            <a:off x="6821424" y="2103120"/>
            <a:ext cx="1591056" cy="502920"/>
          </a:xfrm>
          <a:prstGeom prst="rect">
            <a:avLst/>
          </a:prstGeom>
          <a:noFill/>
          <a:ln/>
        </p:spPr>
        <p:txBody>
          <a:bodyPr wrap="square" rtlCol="0" anchor="ctr"/>
          <a:lstStyle/>
          <a:p>
            <a:pPr marL="0" indent="0">
              <a:lnSpc>
                <a:spcPts val="1500"/>
              </a:lnSpc>
              <a:buNone/>
            </a:pPr>
            <a:r>
              <a:rPr lang="en-US" sz="1150" dirty="0">
                <a:solidFill>
                  <a:srgbClr val="5A6B75"/>
                </a:solidFill>
                <a:latin typeface="Calibri" pitchFamily="34" charset="0"/>
                <a:ea typeface="Calibri" pitchFamily="34" charset="-122"/>
                <a:cs typeface="Calibri" pitchFamily="34" charset="-120"/>
              </a:rPr>
              <a:t>one shared network</a:t>
            </a:r>
            <a:endParaRPr lang="en-US" sz="1150" dirty="0"/>
          </a:p>
        </p:txBody>
      </p:sp>
      <p:sp>
        <p:nvSpPr>
          <p:cNvPr id="19" name="Text 17"/>
          <p:cNvSpPr txBox="1"/>
          <p:nvPr/>
        </p:nvSpPr>
        <p:spPr>
          <a:xfrm>
            <a:off x="548640" y="2761488"/>
            <a:ext cx="1847088"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no learning</a:t>
            </a:r>
            <a:endParaRPr lang="en-US" sz="1000" dirty="0"/>
          </a:p>
        </p:txBody>
      </p:sp>
      <p:sp>
        <p:nvSpPr>
          <p:cNvPr id="20" name="Text 18"/>
          <p:cNvSpPr txBox="1"/>
          <p:nvPr/>
        </p:nvSpPr>
        <p:spPr>
          <a:xfrm>
            <a:off x="6748272" y="2761488"/>
            <a:ext cx="1847088" cy="256032"/>
          </a:xfrm>
          <a:prstGeom prst="rect">
            <a:avLst/>
          </a:prstGeom>
          <a:noFill/>
          <a:ln/>
        </p:spPr>
        <p:txBody>
          <a:bodyPr wrap="square" rtlCol="0" anchor="ctr"/>
          <a:lstStyle/>
          <a:p>
            <a:pPr marL="0" indent="0" algn="r">
              <a:buNone/>
            </a:pPr>
            <a:r>
              <a:rPr lang="en-US" sz="1000" i="1" dirty="0">
                <a:solidFill>
                  <a:srgbClr val="1F9E89"/>
                </a:solidFill>
                <a:latin typeface="Calibri" pitchFamily="34" charset="0"/>
                <a:ea typeface="Calibri" pitchFamily="34" charset="-122"/>
                <a:cs typeface="Calibri" pitchFamily="34" charset="-120"/>
              </a:rPr>
              <a:t>fully decentralised learning</a:t>
            </a:r>
            <a:endParaRPr lang="en-US" sz="1000" dirty="0"/>
          </a:p>
        </p:txBody>
      </p:sp>
      <p:sp>
        <p:nvSpPr>
          <p:cNvPr id="21" name="Text 19"/>
          <p:cNvSpPr txBox="1"/>
          <p:nvPr/>
        </p:nvSpPr>
        <p:spPr>
          <a:xfrm>
            <a:off x="548640" y="3127248"/>
            <a:ext cx="1847088" cy="658368"/>
          </a:xfrm>
          <a:prstGeom prst="rect">
            <a:avLst/>
          </a:prstGeom>
          <a:noFill/>
          <a:ln/>
        </p:spPr>
        <p:txBody>
          <a:bodyPr wrap="square" rtlCol="0" anchor="ctr"/>
          <a:lstStyle/>
          <a:p>
            <a:pPr marL="0" indent="0">
              <a:buNone/>
            </a:pPr>
            <a:r>
              <a:rPr lang="en-US" sz="4000" b="1" dirty="0">
                <a:solidFill>
                  <a:srgbClr val="22303C"/>
                </a:solidFill>
                <a:latin typeface="Cambria" pitchFamily="34" charset="0"/>
                <a:ea typeface="Cambria" pitchFamily="34" charset="-122"/>
                <a:cs typeface="Cambria" pitchFamily="34" charset="-120"/>
              </a:rPr>
              <a:t>1,600</a:t>
            </a:r>
            <a:endParaRPr lang="en-US" sz="4000" dirty="0"/>
          </a:p>
        </p:txBody>
      </p:sp>
      <p:sp>
        <p:nvSpPr>
          <p:cNvPr id="22" name="Text 20"/>
          <p:cNvSpPr txBox="1"/>
          <p:nvPr/>
        </p:nvSpPr>
        <p:spPr>
          <a:xfrm>
            <a:off x="548640" y="3785616"/>
            <a:ext cx="1847088" cy="292608"/>
          </a:xfrm>
          <a:prstGeom prst="rect">
            <a:avLst/>
          </a:prstGeom>
          <a:noFill/>
          <a:ln/>
        </p:spPr>
        <p:txBody>
          <a:bodyPr wrap="square" rtlCol="0" anchor="ctr"/>
          <a:lstStyle/>
          <a:p>
            <a:pPr marL="0" indent="0">
              <a:buNone/>
            </a:pPr>
            <a:r>
              <a:rPr lang="en-US" sz="1250" dirty="0">
                <a:solidFill>
                  <a:srgbClr val="5A6B75"/>
                </a:solidFill>
                <a:latin typeface="Calibri" pitchFamily="34" charset="0"/>
                <a:ea typeface="Calibri" pitchFamily="34" charset="-122"/>
                <a:cs typeface="Calibri" pitchFamily="34" charset="-120"/>
              </a:rPr>
              <a:t>runs</a:t>
            </a:r>
            <a:endParaRPr lang="en-US" sz="1250" dirty="0"/>
          </a:p>
        </p:txBody>
      </p:sp>
      <p:sp>
        <p:nvSpPr>
          <p:cNvPr id="23" name="Text 21"/>
          <p:cNvSpPr txBox="1"/>
          <p:nvPr/>
        </p:nvSpPr>
        <p:spPr>
          <a:xfrm>
            <a:off x="2596896" y="3127248"/>
            <a:ext cx="1847088" cy="658368"/>
          </a:xfrm>
          <a:prstGeom prst="rect">
            <a:avLst/>
          </a:prstGeom>
          <a:noFill/>
          <a:ln/>
        </p:spPr>
        <p:txBody>
          <a:bodyPr wrap="square" rtlCol="0" anchor="ctr"/>
          <a:lstStyle/>
          <a:p>
            <a:pPr marL="0" indent="0">
              <a:buNone/>
            </a:pPr>
            <a:r>
              <a:rPr lang="en-US" sz="4000" b="1" dirty="0">
                <a:solidFill>
                  <a:srgbClr val="22303C"/>
                </a:solidFill>
                <a:latin typeface="Cambria" pitchFamily="34" charset="0"/>
                <a:ea typeface="Cambria" pitchFamily="34" charset="-122"/>
                <a:cs typeface="Cambria" pitchFamily="34" charset="-120"/>
              </a:rPr>
              <a:t>50</a:t>
            </a:r>
            <a:endParaRPr lang="en-US" sz="4000" dirty="0"/>
          </a:p>
        </p:txBody>
      </p:sp>
      <p:sp>
        <p:nvSpPr>
          <p:cNvPr id="24" name="Text 22"/>
          <p:cNvSpPr txBox="1"/>
          <p:nvPr/>
        </p:nvSpPr>
        <p:spPr>
          <a:xfrm>
            <a:off x="2596896" y="3785616"/>
            <a:ext cx="1847088" cy="292608"/>
          </a:xfrm>
          <a:prstGeom prst="rect">
            <a:avLst/>
          </a:prstGeom>
          <a:noFill/>
          <a:ln/>
        </p:spPr>
        <p:txBody>
          <a:bodyPr wrap="square" rtlCol="0" anchor="ctr"/>
          <a:lstStyle/>
          <a:p>
            <a:pPr marL="0" indent="0">
              <a:buNone/>
            </a:pPr>
            <a:r>
              <a:rPr lang="en-US" sz="1250" dirty="0">
                <a:solidFill>
                  <a:srgbClr val="5A6B75"/>
                </a:solidFill>
                <a:latin typeface="Calibri" pitchFamily="34" charset="0"/>
                <a:ea typeface="Calibri" pitchFamily="34" charset="-122"/>
                <a:cs typeface="Calibri" pitchFamily="34" charset="-120"/>
              </a:rPr>
              <a:t>matched seeds</a:t>
            </a:r>
            <a:endParaRPr lang="en-US" sz="1250" dirty="0"/>
          </a:p>
        </p:txBody>
      </p:sp>
      <p:sp>
        <p:nvSpPr>
          <p:cNvPr id="25" name="Text 23"/>
          <p:cNvSpPr txBox="1"/>
          <p:nvPr/>
        </p:nvSpPr>
        <p:spPr>
          <a:xfrm>
            <a:off x="4645152" y="3127248"/>
            <a:ext cx="1847088" cy="658368"/>
          </a:xfrm>
          <a:prstGeom prst="rect">
            <a:avLst/>
          </a:prstGeom>
          <a:noFill/>
          <a:ln/>
        </p:spPr>
        <p:txBody>
          <a:bodyPr wrap="square" rtlCol="0" anchor="ctr"/>
          <a:lstStyle/>
          <a:p>
            <a:pPr marL="0" indent="0">
              <a:buNone/>
            </a:pPr>
            <a:r>
              <a:rPr lang="en-US" sz="4000" b="1" dirty="0">
                <a:solidFill>
                  <a:srgbClr val="22303C"/>
                </a:solidFill>
                <a:latin typeface="Cambria" pitchFamily="34" charset="0"/>
                <a:ea typeface="Cambria" pitchFamily="34" charset="-122"/>
                <a:cs typeface="Cambria" pitchFamily="34" charset="-120"/>
              </a:rPr>
              <a:t>4</a:t>
            </a:r>
            <a:endParaRPr lang="en-US" sz="4000" dirty="0"/>
          </a:p>
        </p:txBody>
      </p:sp>
      <p:sp>
        <p:nvSpPr>
          <p:cNvPr id="26" name="Text 24"/>
          <p:cNvSpPr txBox="1"/>
          <p:nvPr/>
        </p:nvSpPr>
        <p:spPr>
          <a:xfrm>
            <a:off x="4645152" y="3785616"/>
            <a:ext cx="1847088" cy="292608"/>
          </a:xfrm>
          <a:prstGeom prst="rect">
            <a:avLst/>
          </a:prstGeom>
          <a:noFill/>
          <a:ln/>
        </p:spPr>
        <p:txBody>
          <a:bodyPr wrap="square" rtlCol="0" anchor="ctr"/>
          <a:lstStyle/>
          <a:p>
            <a:pPr marL="0" indent="0">
              <a:buNone/>
            </a:pPr>
            <a:r>
              <a:rPr lang="en-US" sz="1250" dirty="0">
                <a:solidFill>
                  <a:srgbClr val="5A6B75"/>
                </a:solidFill>
                <a:latin typeface="Calibri" pitchFamily="34" charset="0"/>
                <a:ea typeface="Calibri" pitchFamily="34" charset="-122"/>
                <a:cs typeface="Calibri" pitchFamily="34" charset="-120"/>
              </a:rPr>
              <a:t>obstacle densities</a:t>
            </a:r>
            <a:endParaRPr lang="en-US" sz="1250" dirty="0"/>
          </a:p>
        </p:txBody>
      </p:sp>
      <p:sp>
        <p:nvSpPr>
          <p:cNvPr id="27" name="Text 25"/>
          <p:cNvSpPr txBox="1"/>
          <p:nvPr/>
        </p:nvSpPr>
        <p:spPr>
          <a:xfrm>
            <a:off x="6693408" y="3127248"/>
            <a:ext cx="1847088" cy="658368"/>
          </a:xfrm>
          <a:prstGeom prst="rect">
            <a:avLst/>
          </a:prstGeom>
          <a:noFill/>
          <a:ln/>
        </p:spPr>
        <p:txBody>
          <a:bodyPr wrap="square" rtlCol="0" anchor="ctr"/>
          <a:lstStyle/>
          <a:p>
            <a:pPr marL="0" indent="0">
              <a:buNone/>
            </a:pPr>
            <a:r>
              <a:rPr lang="en-US" sz="4000" b="1" dirty="0">
                <a:solidFill>
                  <a:srgbClr val="22303C"/>
                </a:solidFill>
                <a:latin typeface="Cambria" pitchFamily="34" charset="0"/>
                <a:ea typeface="Cambria" pitchFamily="34" charset="-122"/>
                <a:cs typeface="Cambria" pitchFamily="34" charset="-120"/>
              </a:rPr>
              <a:t>2</a:t>
            </a:r>
            <a:endParaRPr lang="en-US" sz="4000" dirty="0"/>
          </a:p>
        </p:txBody>
      </p:sp>
      <p:sp>
        <p:nvSpPr>
          <p:cNvPr id="28" name="Text 26"/>
          <p:cNvSpPr txBox="1"/>
          <p:nvPr/>
        </p:nvSpPr>
        <p:spPr>
          <a:xfrm>
            <a:off x="6693408" y="3785616"/>
            <a:ext cx="1847088" cy="292608"/>
          </a:xfrm>
          <a:prstGeom prst="rect">
            <a:avLst/>
          </a:prstGeom>
          <a:noFill/>
          <a:ln/>
        </p:spPr>
        <p:txBody>
          <a:bodyPr wrap="square" rtlCol="0" anchor="ctr"/>
          <a:lstStyle/>
          <a:p>
            <a:pPr marL="0" indent="0">
              <a:buNone/>
            </a:pPr>
            <a:r>
              <a:rPr lang="en-US" sz="1250" dirty="0">
                <a:solidFill>
                  <a:srgbClr val="5A6B75"/>
                </a:solidFill>
                <a:latin typeface="Calibri" pitchFamily="34" charset="0"/>
                <a:ea typeface="Calibri" pitchFamily="34" charset="-122"/>
                <a:cs typeface="Calibri" pitchFamily="34" charset="-120"/>
              </a:rPr>
              <a:t>disjoint seed sets</a:t>
            </a:r>
            <a:endParaRPr lang="en-US" sz="1250" dirty="0"/>
          </a:p>
        </p:txBody>
      </p:sp>
      <p:sp>
        <p:nvSpPr>
          <p:cNvPr id="29" name="Text 27"/>
          <p:cNvSpPr txBox="1"/>
          <p:nvPr/>
        </p:nvSpPr>
        <p:spPr>
          <a:xfrm>
            <a:off x="548640" y="4224528"/>
            <a:ext cx="8046720" cy="640080"/>
          </a:xfrm>
          <a:prstGeom prst="rect">
            <a:avLst/>
          </a:prstGeom>
          <a:noFill/>
          <a:ln/>
        </p:spPr>
        <p:txBody>
          <a:bodyPr wrap="square" rtlCol="0" anchor="ctr"/>
          <a:lstStyle/>
          <a:p>
            <a:pPr marL="0" indent="0">
              <a:lnSpc>
                <a:spcPts val="2100"/>
              </a:lnSpc>
              <a:buNone/>
            </a:pPr>
            <a:r>
              <a:rPr lang="en-US" sz="1400" dirty="0">
                <a:solidFill>
                  <a:srgbClr val="22303C"/>
                </a:solidFill>
                <a:latin typeface="Calibri" pitchFamily="34" charset="0"/>
                <a:ea typeface="Calibri" pitchFamily="34" charset="-122"/>
                <a:cs typeface="Calibri" pitchFamily="34" charset="-120"/>
              </a:rPr>
              <a:t>Every controller sees the identical layout on every seed, so the comparison is paired: Wilcoxon signed-rank, Holm-Bonferroni correction, effect sizes, bootstrap intervals.</a:t>
            </a:r>
            <a:endParaRPr lang="en-US" sz="1400" dirty="0"/>
          </a:p>
        </p:txBody>
      </p:sp>
      <p:pic>
        <p:nvPicPr>
          <p:cNvPr id="46" name="Audio 45">
            <a:extLst>
              <a:ext uri="{FF2B5EF4-FFF2-40B4-BE49-F238E27FC236}">
                <a16:creationId xmlns:a16="http://schemas.microsoft.com/office/drawing/2014/main" id="{3BC52627-6AD1-7CDE-697D-B453C519E4E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942"/>
    </mc:Choice>
    <mc:Fallback>
      <p:transition spd="slow" advTm="229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8046720" cy="502920"/>
          </a:xfrm>
          <a:prstGeom prst="rect">
            <a:avLst/>
          </a:prstGeom>
          <a:noFill/>
          <a:ln/>
        </p:spPr>
        <p:txBody>
          <a:bodyPr wrap="square" rtlCol="0" anchor="ctr"/>
          <a:lstStyle/>
          <a:p>
            <a:pPr marL="0" indent="0">
              <a:buNone/>
            </a:pPr>
            <a:r>
              <a:rPr lang="en-US" sz="3200" b="1" dirty="0">
                <a:solidFill>
                  <a:srgbClr val="22303C"/>
                </a:solidFill>
                <a:latin typeface="Cambria" pitchFamily="34" charset="0"/>
                <a:ea typeface="Cambria" pitchFamily="34" charset="-122"/>
                <a:cs typeface="Cambria" pitchFamily="34" charset="-120"/>
              </a:rPr>
              <a:t>The result: a crossover</a:t>
            </a:r>
            <a:endParaRPr lang="en-US" sz="3200" dirty="0"/>
          </a:p>
        </p:txBody>
      </p:sp>
      <p:pic>
        <p:nvPicPr>
          <p:cNvPr id="3" name="Image 0" descr="cov.png"/>
          <p:cNvPicPr>
            <a:picLocks noChangeAspect="1"/>
          </p:cNvPicPr>
          <p:nvPr/>
        </p:nvPicPr>
        <p:blipFill>
          <a:blip r:embed="rId5"/>
          <a:stretch>
            <a:fillRect/>
          </a:stretch>
        </p:blipFill>
        <p:spPr>
          <a:xfrm>
            <a:off x="457200" y="960120"/>
            <a:ext cx="8229600" cy="2532888"/>
          </a:xfrm>
          <a:prstGeom prst="rect">
            <a:avLst/>
          </a:prstGeom>
        </p:spPr>
      </p:pic>
      <p:sp>
        <p:nvSpPr>
          <p:cNvPr id="4" name="Shape 1"/>
          <p:cNvSpPr/>
          <p:nvPr/>
        </p:nvSpPr>
        <p:spPr>
          <a:xfrm>
            <a:off x="548640" y="3913632"/>
            <a:ext cx="109728" cy="109728"/>
          </a:xfrm>
          <a:prstGeom prst="ellipse">
            <a:avLst/>
          </a:prstGeom>
          <a:solidFill>
            <a:srgbClr val="1F9E89"/>
          </a:solidFill>
          <a:ln/>
        </p:spPr>
        <p:txBody>
          <a:bodyPr/>
          <a:lstStyle/>
          <a:p>
            <a:endParaRPr lang="en-US"/>
          </a:p>
        </p:txBody>
      </p:sp>
      <p:sp>
        <p:nvSpPr>
          <p:cNvPr id="5" name="Text 2"/>
          <p:cNvSpPr txBox="1"/>
          <p:nvPr/>
        </p:nvSpPr>
        <p:spPr>
          <a:xfrm>
            <a:off x="749808" y="3803904"/>
            <a:ext cx="2542032" cy="329184"/>
          </a:xfrm>
          <a:prstGeom prst="rect">
            <a:avLst/>
          </a:prstGeom>
          <a:noFill/>
          <a:ln/>
        </p:spPr>
        <p:txBody>
          <a:bodyPr wrap="square" rtlCol="0" anchor="ctr"/>
          <a:lstStyle/>
          <a:p>
            <a:pPr marL="0" indent="0">
              <a:buNone/>
            </a:pPr>
            <a:r>
              <a:rPr lang="en-US" sz="1400" b="1" dirty="0">
                <a:solidFill>
                  <a:srgbClr val="22303C"/>
                </a:solidFill>
                <a:latin typeface="Calibri" pitchFamily="34" charset="0"/>
                <a:ea typeface="Calibri" pitchFamily="34" charset="-122"/>
                <a:cs typeface="Calibri" pitchFamily="34" charset="-120"/>
              </a:rPr>
              <a:t>Learning wins in the open</a:t>
            </a:r>
            <a:endParaRPr lang="en-US" sz="1400" dirty="0"/>
          </a:p>
        </p:txBody>
      </p:sp>
      <p:sp>
        <p:nvSpPr>
          <p:cNvPr id="6" name="Text 3"/>
          <p:cNvSpPr txBox="1"/>
          <p:nvPr/>
        </p:nvSpPr>
        <p:spPr>
          <a:xfrm>
            <a:off x="749808" y="4133088"/>
            <a:ext cx="2542032" cy="548640"/>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+4.7 and +5.0 points at 0% obstacles</a:t>
            </a:r>
            <a:endParaRPr lang="en-US" sz="1200" dirty="0"/>
          </a:p>
        </p:txBody>
      </p:sp>
      <p:sp>
        <p:nvSpPr>
          <p:cNvPr id="7" name="Shape 4"/>
          <p:cNvSpPr/>
          <p:nvPr/>
        </p:nvSpPr>
        <p:spPr>
          <a:xfrm>
            <a:off x="3291840" y="3913632"/>
            <a:ext cx="109728" cy="109728"/>
          </a:xfrm>
          <a:prstGeom prst="ellipse">
            <a:avLst/>
          </a:prstGeom>
          <a:solidFill>
            <a:srgbClr val="5A6B75"/>
          </a:solidFill>
          <a:ln/>
        </p:spPr>
        <p:txBody>
          <a:bodyPr/>
          <a:lstStyle/>
          <a:p>
            <a:endParaRPr lang="en-US"/>
          </a:p>
        </p:txBody>
      </p:sp>
      <p:sp>
        <p:nvSpPr>
          <p:cNvPr id="8" name="Text 5"/>
          <p:cNvSpPr txBox="1"/>
          <p:nvPr/>
        </p:nvSpPr>
        <p:spPr>
          <a:xfrm>
            <a:off x="3493008" y="3803904"/>
            <a:ext cx="2542032" cy="329184"/>
          </a:xfrm>
          <a:prstGeom prst="rect">
            <a:avLst/>
          </a:prstGeom>
          <a:noFill/>
          <a:ln/>
        </p:spPr>
        <p:txBody>
          <a:bodyPr wrap="square" rtlCol="0" anchor="ctr"/>
          <a:lstStyle/>
          <a:p>
            <a:pPr marL="0" indent="0">
              <a:buNone/>
            </a:pPr>
            <a:r>
              <a:rPr lang="en-US" sz="1400" b="1" dirty="0">
                <a:solidFill>
                  <a:srgbClr val="22303C"/>
                </a:solidFill>
                <a:latin typeface="Calibri" pitchFamily="34" charset="0"/>
                <a:ea typeface="Calibri" pitchFamily="34" charset="-122"/>
                <a:cs typeface="Calibri" pitchFamily="34" charset="-120"/>
              </a:rPr>
              <a:t>Level in the middle</a:t>
            </a:r>
            <a:endParaRPr lang="en-US" sz="1400" dirty="0"/>
          </a:p>
        </p:txBody>
      </p:sp>
      <p:sp>
        <p:nvSpPr>
          <p:cNvPr id="9" name="Text 6"/>
          <p:cNvSpPr txBox="1"/>
          <p:nvPr/>
        </p:nvSpPr>
        <p:spPr>
          <a:xfrm>
            <a:off x="3493008" y="4133088"/>
            <a:ext cx="2542032" cy="548640"/>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10% and 20%: nothing survives correction</a:t>
            </a:r>
            <a:endParaRPr lang="en-US" sz="1200" dirty="0"/>
          </a:p>
        </p:txBody>
      </p:sp>
      <p:sp>
        <p:nvSpPr>
          <p:cNvPr id="10" name="Shape 7"/>
          <p:cNvSpPr/>
          <p:nvPr/>
        </p:nvSpPr>
        <p:spPr>
          <a:xfrm>
            <a:off x="6035040" y="3913632"/>
            <a:ext cx="109728" cy="109728"/>
          </a:xfrm>
          <a:prstGeom prst="ellipse">
            <a:avLst/>
          </a:prstGeom>
          <a:solidFill>
            <a:srgbClr val="D64550"/>
          </a:solidFill>
          <a:ln/>
        </p:spPr>
        <p:txBody>
          <a:bodyPr/>
          <a:lstStyle/>
          <a:p>
            <a:endParaRPr lang="en-US"/>
          </a:p>
        </p:txBody>
      </p:sp>
      <p:sp>
        <p:nvSpPr>
          <p:cNvPr id="11" name="Text 8"/>
          <p:cNvSpPr txBox="1"/>
          <p:nvPr/>
        </p:nvSpPr>
        <p:spPr>
          <a:xfrm>
            <a:off x="6236208" y="3803904"/>
            <a:ext cx="2542032" cy="329184"/>
          </a:xfrm>
          <a:prstGeom prst="rect">
            <a:avLst/>
          </a:prstGeom>
          <a:noFill/>
          <a:ln/>
        </p:spPr>
        <p:txBody>
          <a:bodyPr wrap="square" rtlCol="0" anchor="ctr"/>
          <a:lstStyle/>
          <a:p>
            <a:pPr marL="0" indent="0">
              <a:buNone/>
            </a:pPr>
            <a:r>
              <a:rPr lang="en-US" sz="1400" b="1" dirty="0">
                <a:solidFill>
                  <a:srgbClr val="22303C"/>
                </a:solidFill>
                <a:latin typeface="Calibri" pitchFamily="34" charset="0"/>
                <a:ea typeface="Calibri" pitchFamily="34" charset="-122"/>
                <a:cs typeface="Calibri" pitchFamily="34" charset="-120"/>
              </a:rPr>
              <a:t>APF holds the hardest case</a:t>
            </a:r>
            <a:endParaRPr lang="en-US" sz="1400" dirty="0"/>
          </a:p>
        </p:txBody>
      </p:sp>
      <p:sp>
        <p:nvSpPr>
          <p:cNvPr id="12" name="Text 9"/>
          <p:cNvSpPr txBox="1"/>
          <p:nvPr/>
        </p:nvSpPr>
        <p:spPr>
          <a:xfrm>
            <a:off x="6236208" y="4133088"/>
            <a:ext cx="2542032" cy="548640"/>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−3.8 points, on one seed set only</a:t>
            </a:r>
            <a:endParaRPr lang="en-US" sz="1200" dirty="0"/>
          </a:p>
        </p:txBody>
      </p:sp>
      <p:pic>
        <p:nvPicPr>
          <p:cNvPr id="30" name="Audio 29">
            <a:extLst>
              <a:ext uri="{FF2B5EF4-FFF2-40B4-BE49-F238E27FC236}">
                <a16:creationId xmlns:a16="http://schemas.microsoft.com/office/drawing/2014/main" id="{4945F7C6-85E8-5142-751E-8D67D891343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456"/>
    </mc:Choice>
    <mc:Fallback>
      <p:transition spd="slow" advTm="304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5852160" cy="548640"/>
          </a:xfrm>
          <a:prstGeom prst="rect">
            <a:avLst/>
          </a:prstGeom>
          <a:noFill/>
          <a:ln/>
        </p:spPr>
        <p:txBody>
          <a:bodyPr wrap="square" rtlCol="0" anchor="ctr"/>
          <a:lstStyle/>
          <a:p>
            <a:pPr marL="0" indent="0">
              <a:buNone/>
            </a:pPr>
            <a:r>
              <a:rPr lang="en-US" sz="3200" b="1" dirty="0">
                <a:solidFill>
                  <a:srgbClr val="22303C"/>
                </a:solidFill>
                <a:latin typeface="Cambria" pitchFamily="34" charset="0"/>
                <a:ea typeface="Cambria" pitchFamily="34" charset="-122"/>
                <a:cs typeface="Cambria" pitchFamily="34" charset="-120"/>
              </a:rPr>
              <a:t>What that looks like</a:t>
            </a:r>
            <a:endParaRPr lang="en-US" sz="3200" dirty="0"/>
          </a:p>
        </p:txBody>
      </p:sp>
      <p:sp>
        <p:nvSpPr>
          <p:cNvPr id="3" name="Text 1"/>
          <p:cNvSpPr txBox="1"/>
          <p:nvPr/>
        </p:nvSpPr>
        <p:spPr>
          <a:xfrm>
            <a:off x="548640" y="932688"/>
            <a:ext cx="5852160" cy="292608"/>
          </a:xfrm>
          <a:prstGeom prst="rect">
            <a:avLst/>
          </a:prstGeom>
          <a:noFill/>
          <a:ln/>
        </p:spPr>
        <p:txBody>
          <a:bodyPr wrap="square" rtlCol="0" anchor="ctr"/>
          <a:lstStyle/>
          <a:p>
            <a:pPr marL="0" indent="0">
              <a:buNone/>
            </a:pPr>
            <a:r>
              <a:rPr lang="en-US" sz="1400" dirty="0">
                <a:solidFill>
                  <a:srgbClr val="5A6B75"/>
                </a:solidFill>
                <a:latin typeface="Calibri" pitchFamily="34" charset="0"/>
                <a:ea typeface="Calibri" pitchFamily="34" charset="-122"/>
                <a:cs typeface="Calibri" pitchFamily="34" charset="-120"/>
              </a:rPr>
              <a:t>Same layout, same seed, both controllers, 700 steps</a:t>
            </a:r>
            <a:endParaRPr lang="en-US" sz="1400" dirty="0"/>
          </a:p>
        </p:txBody>
      </p:sp>
      <p:pic>
        <p:nvPicPr>
          <p:cNvPr id="4" name="Image 0" descr="anim.gif"/>
          <p:cNvPicPr>
            <a:picLocks noChangeAspect="1"/>
          </p:cNvPicPr>
          <p:nvPr/>
        </p:nvPicPr>
        <p:blipFill>
          <a:blip r:embed="rId5"/>
          <a:stretch>
            <a:fillRect/>
          </a:stretch>
        </p:blipFill>
        <p:spPr>
          <a:xfrm>
            <a:off x="548640" y="1371600"/>
            <a:ext cx="5806440" cy="3035808"/>
          </a:xfrm>
          <a:prstGeom prst="rect">
            <a:avLst/>
          </a:prstGeom>
        </p:spPr>
      </p:pic>
      <p:sp>
        <p:nvSpPr>
          <p:cNvPr id="5" name="Shape 2"/>
          <p:cNvSpPr/>
          <p:nvPr/>
        </p:nvSpPr>
        <p:spPr>
          <a:xfrm>
            <a:off x="6629400" y="1371600"/>
            <a:ext cx="1965960" cy="3035808"/>
          </a:xfrm>
          <a:prstGeom prst="roundRect">
            <a:avLst>
              <a:gd name="adj" fmla="val 3721"/>
            </a:avLst>
          </a:prstGeom>
          <a:solidFill>
            <a:srgbClr val="F5F8F9"/>
          </a:solidFill>
          <a:ln w="9525">
            <a:solidFill>
              <a:srgbClr val="D9E0E4"/>
            </a:solidFill>
            <a:prstDash val="solid"/>
          </a:ln>
        </p:spPr>
        <p:txBody>
          <a:bodyPr/>
          <a:lstStyle/>
          <a:p>
            <a:endParaRPr lang="en-US"/>
          </a:p>
        </p:txBody>
      </p:sp>
      <p:sp>
        <p:nvSpPr>
          <p:cNvPr id="6" name="Text 3"/>
          <p:cNvSpPr txBox="1"/>
          <p:nvPr/>
        </p:nvSpPr>
        <p:spPr>
          <a:xfrm>
            <a:off x="6812280" y="1600200"/>
            <a:ext cx="1600200" cy="292608"/>
          </a:xfrm>
          <a:prstGeom prst="rect">
            <a:avLst/>
          </a:prstGeom>
          <a:noFill/>
          <a:ln/>
        </p:spPr>
        <p:txBody>
          <a:bodyPr wrap="square" rtlCol="0" anchor="ctr"/>
          <a:lstStyle/>
          <a:p>
            <a:pPr marL="0" indent="0">
              <a:buNone/>
            </a:pPr>
            <a:r>
              <a:rPr lang="en-US" sz="1500" b="1" dirty="0">
                <a:solidFill>
                  <a:srgbClr val="D64550"/>
                </a:solidFill>
                <a:latin typeface="Calibri" pitchFamily="34" charset="0"/>
                <a:ea typeface="Calibri" pitchFamily="34" charset="-122"/>
                <a:cs typeface="Calibri" pitchFamily="34" charset="-120"/>
              </a:rPr>
              <a:t>APF</a:t>
            </a:r>
            <a:endParaRPr lang="en-US" sz="1500" dirty="0"/>
          </a:p>
        </p:txBody>
      </p:sp>
      <p:sp>
        <p:nvSpPr>
          <p:cNvPr id="7" name="Text 4"/>
          <p:cNvSpPr txBox="1"/>
          <p:nvPr/>
        </p:nvSpPr>
        <p:spPr>
          <a:xfrm>
            <a:off x="6812280" y="1892808"/>
            <a:ext cx="1600200" cy="640080"/>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follows the corridors</a:t>
            </a:r>
            <a:endParaRPr lang="en-US" sz="1200" dirty="0"/>
          </a:p>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between buildings</a:t>
            </a:r>
            <a:endParaRPr lang="en-US" sz="1200" dirty="0"/>
          </a:p>
        </p:txBody>
      </p:sp>
      <p:sp>
        <p:nvSpPr>
          <p:cNvPr id="8" name="Text 5"/>
          <p:cNvSpPr txBox="1"/>
          <p:nvPr/>
        </p:nvSpPr>
        <p:spPr>
          <a:xfrm>
            <a:off x="6812280" y="2697480"/>
            <a:ext cx="1600200" cy="292608"/>
          </a:xfrm>
          <a:prstGeom prst="rect">
            <a:avLst/>
          </a:prstGeom>
          <a:noFill/>
          <a:ln/>
        </p:spPr>
        <p:txBody>
          <a:bodyPr wrap="square" rtlCol="0" anchor="ctr"/>
          <a:lstStyle/>
          <a:p>
            <a:pPr marL="0" indent="0">
              <a:buNone/>
            </a:pPr>
            <a:r>
              <a:rPr lang="en-US" sz="1500" b="1" dirty="0">
                <a:solidFill>
                  <a:srgbClr val="1F9E89"/>
                </a:solidFill>
                <a:latin typeface="Calibri" pitchFamily="34" charset="0"/>
                <a:ea typeface="Calibri" pitchFamily="34" charset="-122"/>
                <a:cs typeface="Calibri" pitchFamily="34" charset="-120"/>
              </a:rPr>
              <a:t>MARL</a:t>
            </a:r>
            <a:endParaRPr lang="en-US" sz="1500" dirty="0"/>
          </a:p>
        </p:txBody>
      </p:sp>
      <p:sp>
        <p:nvSpPr>
          <p:cNvPr id="9" name="Text 6"/>
          <p:cNvSpPr txBox="1"/>
          <p:nvPr/>
        </p:nvSpPr>
        <p:spPr>
          <a:xfrm>
            <a:off x="6812280" y="2990088"/>
            <a:ext cx="1600200" cy="960120"/>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pushes outward and</a:t>
            </a:r>
            <a:endParaRPr lang="en-US" sz="1200" dirty="0"/>
          </a:p>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splits the area up,</a:t>
            </a:r>
            <a:endParaRPr lang="en-US" sz="1200" dirty="0"/>
          </a:p>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with no messages</a:t>
            </a:r>
            <a:endParaRPr lang="en-US" sz="1200" dirty="0"/>
          </a:p>
        </p:txBody>
      </p:sp>
      <p:sp>
        <p:nvSpPr>
          <p:cNvPr id="10" name="Text 7"/>
          <p:cNvSpPr txBox="1"/>
          <p:nvPr/>
        </p:nvSpPr>
        <p:spPr>
          <a:xfrm>
            <a:off x="548640" y="4526280"/>
            <a:ext cx="8046720" cy="365760"/>
          </a:xfrm>
          <a:prstGeom prst="rect">
            <a:avLst/>
          </a:prstGeom>
          <a:noFill/>
          <a:ln/>
        </p:spPr>
        <p:txBody>
          <a:bodyPr wrap="square" rtlCol="0" anchor="ctr"/>
          <a:lstStyle/>
          <a:p>
            <a:pPr marL="0" indent="0">
              <a:buNone/>
            </a:pPr>
            <a:r>
              <a:rPr lang="en-US" sz="1100" dirty="0">
                <a:solidFill>
                  <a:srgbClr val="5A6B75"/>
                </a:solidFill>
                <a:latin typeface="Calibri" pitchFamily="34" charset="0"/>
                <a:ea typeface="Calibri" pitchFamily="34" charset="-122"/>
                <a:cs typeface="Calibri" pitchFamily="34" charset="-120"/>
              </a:rPr>
              <a:t>A typical run: of the 50 seeds at this density, the one whose result sits closest to the reported mean for both controllers.</a:t>
            </a:r>
            <a:endParaRPr lang="en-US" sz="1100" dirty="0"/>
          </a:p>
        </p:txBody>
      </p:sp>
      <p:pic>
        <p:nvPicPr>
          <p:cNvPr id="32" name="Audio 31">
            <a:extLst>
              <a:ext uri="{FF2B5EF4-FFF2-40B4-BE49-F238E27FC236}">
                <a16:creationId xmlns:a16="http://schemas.microsoft.com/office/drawing/2014/main" id="{E806325E-EA79-4A68-D213-3876D2B7F52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336"/>
    </mc:Choice>
    <mc:Fallback>
      <p:transition spd="slow" advTm="183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rtlCol="0" anchor="ctr"/>
          <a:lstStyle/>
          <a:p>
            <a:pPr marL="0" indent="0">
              <a:buNone/>
            </a:pPr>
            <a:r>
              <a:rPr lang="en-US" sz="3200" b="1" dirty="0">
                <a:solidFill>
                  <a:srgbClr val="22303C"/>
                </a:solidFill>
                <a:latin typeface="Cambria" pitchFamily="34" charset="0"/>
                <a:ea typeface="Cambria" pitchFamily="34" charset="-122"/>
                <a:cs typeface="Cambria" pitchFamily="34" charset="-120"/>
              </a:rPr>
              <a:t>The finding that mattered most</a:t>
            </a:r>
            <a:endParaRPr lang="en-US" sz="3200" dirty="0"/>
          </a:p>
        </p:txBody>
      </p:sp>
      <p:sp>
        <p:nvSpPr>
          <p:cNvPr id="3" name="Text 1"/>
          <p:cNvSpPr txBox="1"/>
          <p:nvPr/>
        </p:nvSpPr>
        <p:spPr>
          <a:xfrm>
            <a:off x="548640" y="1371600"/>
            <a:ext cx="3200400" cy="1554480"/>
          </a:xfrm>
          <a:prstGeom prst="rect">
            <a:avLst/>
          </a:prstGeom>
          <a:noFill/>
          <a:ln/>
        </p:spPr>
        <p:txBody>
          <a:bodyPr wrap="square" rtlCol="0" anchor="ctr"/>
          <a:lstStyle/>
          <a:p>
            <a:pPr marL="0" indent="0">
              <a:buNone/>
            </a:pPr>
            <a:r>
              <a:rPr lang="en-US" sz="11000" b="1" dirty="0">
                <a:solidFill>
                  <a:srgbClr val="1F9E89"/>
                </a:solidFill>
                <a:latin typeface="Cambria" pitchFamily="34" charset="0"/>
                <a:ea typeface="Cambria" pitchFamily="34" charset="-122"/>
                <a:cs typeface="Cambria" pitchFamily="34" charset="-120"/>
              </a:rPr>
              <a:t>30.6</a:t>
            </a:r>
            <a:endParaRPr lang="en-US" sz="11000" dirty="0"/>
          </a:p>
        </p:txBody>
      </p:sp>
      <p:sp>
        <p:nvSpPr>
          <p:cNvPr id="4" name="Text 2"/>
          <p:cNvSpPr txBox="1"/>
          <p:nvPr/>
        </p:nvSpPr>
        <p:spPr>
          <a:xfrm>
            <a:off x="585216" y="2926080"/>
            <a:ext cx="3200400" cy="329184"/>
          </a:xfrm>
          <a:prstGeom prst="rect">
            <a:avLst/>
          </a:prstGeom>
          <a:noFill/>
          <a:ln/>
        </p:spPr>
        <p:txBody>
          <a:bodyPr wrap="square" rtlCol="0" anchor="ctr"/>
          <a:lstStyle/>
          <a:p>
            <a:pPr marL="0" indent="0">
              <a:buNone/>
            </a:pPr>
            <a:r>
              <a:rPr lang="en-US" sz="1600" b="1" dirty="0">
                <a:solidFill>
                  <a:srgbClr val="22303C"/>
                </a:solidFill>
                <a:latin typeface="Calibri" pitchFamily="34" charset="0"/>
                <a:ea typeface="Calibri" pitchFamily="34" charset="-122"/>
                <a:cs typeface="Calibri" pitchFamily="34" charset="-120"/>
              </a:rPr>
              <a:t>percentage points lost</a:t>
            </a:r>
            <a:endParaRPr lang="en-US" sz="1600" dirty="0"/>
          </a:p>
        </p:txBody>
      </p:sp>
      <p:sp>
        <p:nvSpPr>
          <p:cNvPr id="5" name="Text 3"/>
          <p:cNvSpPr txBox="1"/>
          <p:nvPr/>
        </p:nvSpPr>
        <p:spPr>
          <a:xfrm>
            <a:off x="585216" y="3255264"/>
            <a:ext cx="3200400" cy="329184"/>
          </a:xfrm>
          <a:prstGeom prst="rect">
            <a:avLst/>
          </a:prstGeom>
          <a:noFill/>
          <a:ln/>
        </p:spPr>
        <p:txBody>
          <a:bodyPr wrap="square" rtlCol="0" anchor="ctr"/>
          <a:lstStyle/>
          <a:p>
            <a:pPr marL="0" indent="0">
              <a:buNone/>
            </a:pPr>
            <a:r>
              <a:rPr lang="en-US" sz="1400" dirty="0">
                <a:solidFill>
                  <a:srgbClr val="5A6B75"/>
                </a:solidFill>
                <a:latin typeface="Calibri" pitchFamily="34" charset="0"/>
                <a:ea typeface="Calibri" pitchFamily="34" charset="-122"/>
                <a:cs typeface="Calibri" pitchFamily="34" charset="-120"/>
              </a:rPr>
              <a:t>by changing one thing: the reward</a:t>
            </a:r>
            <a:endParaRPr lang="en-US" sz="1400" dirty="0"/>
          </a:p>
        </p:txBody>
      </p:sp>
      <p:sp>
        <p:nvSpPr>
          <p:cNvPr id="6" name="Shape 4"/>
          <p:cNvSpPr/>
          <p:nvPr/>
        </p:nvSpPr>
        <p:spPr>
          <a:xfrm>
            <a:off x="4023360" y="1371600"/>
            <a:ext cx="4572000" cy="2395728"/>
          </a:xfrm>
          <a:prstGeom prst="roundRect">
            <a:avLst>
              <a:gd name="adj" fmla="val 3053"/>
            </a:avLst>
          </a:prstGeom>
          <a:solidFill>
            <a:srgbClr val="F5F8F9"/>
          </a:solidFill>
          <a:ln w="9525">
            <a:solidFill>
              <a:srgbClr val="D9E0E4"/>
            </a:solidFill>
            <a:prstDash val="solid"/>
          </a:ln>
        </p:spPr>
        <p:txBody>
          <a:bodyPr/>
          <a:lstStyle/>
          <a:p>
            <a:endParaRPr lang="en-US"/>
          </a:p>
        </p:txBody>
      </p:sp>
      <p:sp>
        <p:nvSpPr>
          <p:cNvPr id="7" name="Text 5"/>
          <p:cNvSpPr txBox="1"/>
          <p:nvPr/>
        </p:nvSpPr>
        <p:spPr>
          <a:xfrm>
            <a:off x="4251960" y="1572768"/>
            <a:ext cx="4114800" cy="685800"/>
          </a:xfrm>
          <a:prstGeom prst="rect">
            <a:avLst/>
          </a:prstGeom>
          <a:noFill/>
          <a:ln/>
        </p:spPr>
        <p:txBody>
          <a:bodyPr wrap="square" rtlCol="0" anchor="ctr"/>
          <a:lstStyle/>
          <a:p>
            <a:pPr marL="0" indent="0">
              <a:lnSpc>
                <a:spcPts val="2100"/>
              </a:lnSpc>
              <a:buNone/>
            </a:pPr>
            <a:r>
              <a:rPr lang="en-US" sz="1450" b="1" dirty="0">
                <a:solidFill>
                  <a:srgbClr val="22303C"/>
                </a:solidFill>
                <a:latin typeface="Calibri" pitchFamily="34" charset="0"/>
                <a:ea typeface="Calibri" pitchFamily="34" charset="-122"/>
                <a:cs typeface="Calibri" pitchFamily="34" charset="-120"/>
              </a:rPr>
              <a:t>Same network. Same budget, seed, observations, dynamics.</a:t>
            </a:r>
            <a:endParaRPr lang="en-US" sz="1450" dirty="0"/>
          </a:p>
          <a:p>
            <a:pPr marL="0" indent="0">
              <a:lnSpc>
                <a:spcPts val="2100"/>
              </a:lnSpc>
              <a:buNone/>
            </a:pPr>
            <a:r>
              <a:rPr lang="en-US" sz="1450" b="1" dirty="0">
                <a:solidFill>
                  <a:srgbClr val="22303C"/>
                </a:solidFill>
                <a:latin typeface="Calibri" pitchFamily="34" charset="0"/>
                <a:ea typeface="Calibri" pitchFamily="34" charset="-122"/>
                <a:cs typeface="Calibri" pitchFamily="34" charset="-120"/>
              </a:rPr>
              <a:t>Only the reward scheme moved.</a:t>
            </a:r>
            <a:endParaRPr lang="en-US" sz="1450" dirty="0"/>
          </a:p>
        </p:txBody>
      </p:sp>
      <p:sp>
        <p:nvSpPr>
          <p:cNvPr id="8" name="Text 6"/>
          <p:cNvSpPr txBox="1"/>
          <p:nvPr/>
        </p:nvSpPr>
        <p:spPr>
          <a:xfrm>
            <a:off x="4251960" y="2331720"/>
            <a:ext cx="4114800" cy="1325880"/>
          </a:xfrm>
          <a:prstGeom prst="rect">
            <a:avLst/>
          </a:prstGeom>
          <a:noFill/>
          <a:ln/>
        </p:spPr>
        <p:txBody>
          <a:bodyPr wrap="square" rtlCol="0" anchor="ctr"/>
          <a:lstStyle/>
          <a:p>
            <a:pPr marL="0" indent="0">
              <a:lnSpc>
                <a:spcPts val="2000"/>
              </a:lnSpc>
              <a:buNone/>
            </a:pPr>
            <a:r>
              <a:rPr lang="en-US" sz="1350" dirty="0">
                <a:solidFill>
                  <a:srgbClr val="5A6B75"/>
                </a:solidFill>
                <a:latin typeface="Calibri" pitchFamily="34" charset="0"/>
                <a:ea typeface="Calibri" pitchFamily="34" charset="-122"/>
                <a:cs typeface="Calibri" pitchFamily="34" charset="-120"/>
              </a:rPr>
              <a:t>Reward each agent for the cells it is first to visit  →  93.6%</a:t>
            </a:r>
            <a:endParaRPr lang="en-US" sz="1350" dirty="0"/>
          </a:p>
          <a:p>
            <a:pPr marL="0" indent="0">
              <a:lnSpc>
                <a:spcPts val="2000"/>
              </a:lnSpc>
              <a:buNone/>
            </a:pPr>
            <a:endParaRPr lang="en-US" sz="1350" dirty="0"/>
          </a:p>
          <a:p>
            <a:pPr marL="0" indent="0">
              <a:lnSpc>
                <a:spcPts val="2000"/>
              </a:lnSpc>
              <a:buNone/>
            </a:pPr>
            <a:r>
              <a:rPr lang="en-US" sz="1350" dirty="0">
                <a:solidFill>
                  <a:srgbClr val="5A6B75"/>
                </a:solidFill>
                <a:latin typeface="Calibri" pitchFamily="34" charset="0"/>
                <a:ea typeface="Calibri" pitchFamily="34" charset="-122"/>
                <a:cs typeface="Calibri" pitchFamily="34" charset="-120"/>
              </a:rPr>
              <a:t>Give every agent the shared team total  →  63.0%,  and not one of fifty runs reaches the target</a:t>
            </a:r>
            <a:endParaRPr lang="en-US" sz="1350" dirty="0"/>
          </a:p>
        </p:txBody>
      </p:sp>
      <p:sp>
        <p:nvSpPr>
          <p:cNvPr id="9" name="Text 7"/>
          <p:cNvSpPr txBox="1"/>
          <p:nvPr/>
        </p:nvSpPr>
        <p:spPr>
          <a:xfrm>
            <a:off x="548640" y="4069080"/>
            <a:ext cx="8046720" cy="777240"/>
          </a:xfrm>
          <a:prstGeom prst="rect">
            <a:avLst/>
          </a:prstGeom>
          <a:noFill/>
          <a:ln/>
        </p:spPr>
        <p:txBody>
          <a:bodyPr wrap="square" rtlCol="0" anchor="ctr"/>
          <a:lstStyle/>
          <a:p>
            <a:pPr marL="0" indent="0">
              <a:lnSpc>
                <a:spcPts val="2200"/>
              </a:lnSpc>
              <a:buNone/>
            </a:pPr>
            <a:r>
              <a:rPr lang="en-US" sz="1450" dirty="0">
                <a:solidFill>
                  <a:srgbClr val="22303C"/>
                </a:solidFill>
                <a:latin typeface="Calibri" pitchFamily="34" charset="0"/>
                <a:ea typeface="Calibri" pitchFamily="34" charset="-122"/>
                <a:cs typeface="Calibri" pitchFamily="34" charset="-120"/>
              </a:rPr>
              <a:t>That gap is larger than the distance between any two controllers in the whole study. Credit assignment is not a refinement on the architecture — it decides whether the controller works at all.</a:t>
            </a:r>
            <a:endParaRPr lang="en-US" sz="1450" dirty="0"/>
          </a:p>
        </p:txBody>
      </p:sp>
      <p:pic>
        <p:nvPicPr>
          <p:cNvPr id="13" name="Audio 12">
            <a:extLst>
              <a:ext uri="{FF2B5EF4-FFF2-40B4-BE49-F238E27FC236}">
                <a16:creationId xmlns:a16="http://schemas.microsoft.com/office/drawing/2014/main" id="{9816D3F6-1EFD-F3ED-0E40-8001320D785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00"/>
    </mc:Choice>
    <mc:Fallback>
      <p:transition spd="slow" advTm="37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rtlCol="0" anchor="ctr"/>
          <a:lstStyle/>
          <a:p>
            <a:pPr marL="0" indent="0">
              <a:buNone/>
            </a:pPr>
            <a:r>
              <a:rPr lang="en-US" sz="3200" b="1" dirty="0">
                <a:solidFill>
                  <a:srgbClr val="22303C"/>
                </a:solidFill>
                <a:latin typeface="Cambria" pitchFamily="34" charset="0"/>
                <a:ea typeface="Cambria" pitchFamily="34" charset="-122"/>
                <a:cs typeface="Cambria" pitchFamily="34" charset="-120"/>
              </a:rPr>
              <a:t>What I found against myself</a:t>
            </a:r>
            <a:endParaRPr lang="en-US" sz="3200" dirty="0"/>
          </a:p>
        </p:txBody>
      </p:sp>
      <p:sp>
        <p:nvSpPr>
          <p:cNvPr id="3" name="Shape 1"/>
          <p:cNvSpPr/>
          <p:nvPr/>
        </p:nvSpPr>
        <p:spPr>
          <a:xfrm>
            <a:off x="548640" y="1271016"/>
            <a:ext cx="237744" cy="237744"/>
          </a:xfrm>
          <a:prstGeom prst="ellipse">
            <a:avLst/>
          </a:prstGeom>
          <a:solidFill>
            <a:srgbClr val="D64550"/>
          </a:solidFill>
          <a:ln/>
        </p:spPr>
        <p:txBody>
          <a:bodyPr/>
          <a:lstStyle/>
          <a:p>
            <a:endParaRPr lang="en-US"/>
          </a:p>
        </p:txBody>
      </p:sp>
      <p:sp>
        <p:nvSpPr>
          <p:cNvPr id="4" name="Text 2"/>
          <p:cNvSpPr txBox="1"/>
          <p:nvPr/>
        </p:nvSpPr>
        <p:spPr>
          <a:xfrm>
            <a:off x="548640" y="1271016"/>
            <a:ext cx="237744"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950976" y="1225296"/>
            <a:ext cx="4846320" cy="292608"/>
          </a:xfrm>
          <a:prstGeom prst="rect">
            <a:avLst/>
          </a:prstGeom>
          <a:noFill/>
          <a:ln/>
        </p:spPr>
        <p:txBody>
          <a:bodyPr wrap="square" rtlCol="0" anchor="ctr"/>
          <a:lstStyle/>
          <a:p>
            <a:pPr marL="0" indent="0">
              <a:buNone/>
            </a:pPr>
            <a:r>
              <a:rPr lang="en-US" sz="1600" b="1" dirty="0">
                <a:solidFill>
                  <a:srgbClr val="22303C"/>
                </a:solidFill>
                <a:latin typeface="Calibri" pitchFamily="34" charset="0"/>
                <a:ea typeface="Calibri" pitchFamily="34" charset="-122"/>
                <a:cs typeface="Calibri" pitchFamily="34" charset="-120"/>
              </a:rPr>
              <a:t>A result I retracted</a:t>
            </a:r>
            <a:endParaRPr lang="en-US" sz="1600" dirty="0"/>
          </a:p>
        </p:txBody>
      </p:sp>
      <p:sp>
        <p:nvSpPr>
          <p:cNvPr id="6" name="Text 4"/>
          <p:cNvSpPr txBox="1"/>
          <p:nvPr/>
        </p:nvSpPr>
        <p:spPr>
          <a:xfrm>
            <a:off x="950976" y="1536192"/>
            <a:ext cx="4846320" cy="713232"/>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An earlier draft reported 95.0% for the memory-free policy. That checkpoint could not be reproduced; the one that survived scores 90.0%, reversing the conclusion.</a:t>
            </a:r>
            <a:endParaRPr lang="en-US" sz="1200" dirty="0"/>
          </a:p>
        </p:txBody>
      </p:sp>
      <p:sp>
        <p:nvSpPr>
          <p:cNvPr id="7" name="Shape 5"/>
          <p:cNvSpPr/>
          <p:nvPr/>
        </p:nvSpPr>
        <p:spPr>
          <a:xfrm>
            <a:off x="548640" y="2331720"/>
            <a:ext cx="237744" cy="237744"/>
          </a:xfrm>
          <a:prstGeom prst="ellipse">
            <a:avLst/>
          </a:prstGeom>
          <a:solidFill>
            <a:srgbClr val="E8A33D"/>
          </a:solidFill>
          <a:ln/>
        </p:spPr>
        <p:txBody>
          <a:bodyPr/>
          <a:lstStyle/>
          <a:p>
            <a:endParaRPr lang="en-US"/>
          </a:p>
        </p:txBody>
      </p:sp>
      <p:sp>
        <p:nvSpPr>
          <p:cNvPr id="8" name="Text 6"/>
          <p:cNvSpPr txBox="1"/>
          <p:nvPr/>
        </p:nvSpPr>
        <p:spPr>
          <a:xfrm>
            <a:off x="548640" y="2331720"/>
            <a:ext cx="237744"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950976" y="2286000"/>
            <a:ext cx="4846320" cy="292608"/>
          </a:xfrm>
          <a:prstGeom prst="rect">
            <a:avLst/>
          </a:prstGeom>
          <a:noFill/>
          <a:ln/>
        </p:spPr>
        <p:txBody>
          <a:bodyPr wrap="square" rtlCol="0" anchor="ctr"/>
          <a:lstStyle/>
          <a:p>
            <a:pPr marL="0" indent="0">
              <a:buNone/>
            </a:pPr>
            <a:r>
              <a:rPr lang="en-US" sz="1600" b="1" dirty="0">
                <a:solidFill>
                  <a:srgbClr val="22303C"/>
                </a:solidFill>
                <a:latin typeface="Calibri" pitchFamily="34" charset="0"/>
                <a:ea typeface="Calibri" pitchFamily="34" charset="-122"/>
                <a:cs typeface="Calibri" pitchFamily="34" charset="-120"/>
              </a:rPr>
              <a:t>A budget that was too short</a:t>
            </a:r>
            <a:endParaRPr lang="en-US" sz="1600" dirty="0"/>
          </a:p>
        </p:txBody>
      </p:sp>
      <p:sp>
        <p:nvSpPr>
          <p:cNvPr id="10" name="Text 8"/>
          <p:cNvSpPr txBox="1"/>
          <p:nvPr/>
        </p:nvSpPr>
        <p:spPr>
          <a:xfrm>
            <a:off x="950976" y="2596896"/>
            <a:ext cx="4846320" cy="713232"/>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Four training seeds spread 7.8 points. Trained twice as long the spread halves and every seed passes APF, so the budget set that result, not the method.</a:t>
            </a:r>
            <a:endParaRPr lang="en-US" sz="1200" dirty="0"/>
          </a:p>
        </p:txBody>
      </p:sp>
      <p:sp>
        <p:nvSpPr>
          <p:cNvPr id="11" name="Shape 9"/>
          <p:cNvSpPr/>
          <p:nvPr/>
        </p:nvSpPr>
        <p:spPr>
          <a:xfrm>
            <a:off x="548640" y="3392424"/>
            <a:ext cx="237744" cy="237744"/>
          </a:xfrm>
          <a:prstGeom prst="ellipse">
            <a:avLst/>
          </a:prstGeom>
          <a:solidFill>
            <a:srgbClr val="1F9E89"/>
          </a:solidFill>
          <a:ln/>
        </p:spPr>
        <p:txBody>
          <a:bodyPr/>
          <a:lstStyle/>
          <a:p>
            <a:endParaRPr lang="en-US"/>
          </a:p>
        </p:txBody>
      </p:sp>
      <p:sp>
        <p:nvSpPr>
          <p:cNvPr id="12" name="Text 10"/>
          <p:cNvSpPr txBox="1"/>
          <p:nvPr/>
        </p:nvSpPr>
        <p:spPr>
          <a:xfrm>
            <a:off x="548640" y="3392424"/>
            <a:ext cx="237744"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950976" y="3346704"/>
            <a:ext cx="4846320" cy="292608"/>
          </a:xfrm>
          <a:prstGeom prst="rect">
            <a:avLst/>
          </a:prstGeom>
          <a:noFill/>
          <a:ln/>
        </p:spPr>
        <p:txBody>
          <a:bodyPr wrap="square" rtlCol="0" anchor="ctr"/>
          <a:lstStyle/>
          <a:p>
            <a:pPr marL="0" indent="0">
              <a:buNone/>
            </a:pPr>
            <a:r>
              <a:rPr lang="en-US" sz="1600" b="1" dirty="0">
                <a:solidFill>
                  <a:srgbClr val="22303C"/>
                </a:solidFill>
                <a:latin typeface="Calibri" pitchFamily="34" charset="0"/>
                <a:ea typeface="Calibri" pitchFamily="34" charset="-122"/>
                <a:cs typeface="Calibri" pitchFamily="34" charset="-120"/>
              </a:rPr>
              <a:t>A metric that misleads</a:t>
            </a:r>
            <a:endParaRPr lang="en-US" sz="1600" dirty="0"/>
          </a:p>
        </p:txBody>
      </p:sp>
      <p:sp>
        <p:nvSpPr>
          <p:cNvPr id="14" name="Text 12"/>
          <p:cNvSpPr txBox="1"/>
          <p:nvPr/>
        </p:nvSpPr>
        <p:spPr>
          <a:xfrm>
            <a:off x="950976" y="3657600"/>
            <a:ext cx="4846320" cy="713232"/>
          </a:xfrm>
          <a:prstGeom prst="rect">
            <a:avLst/>
          </a:prstGeom>
          <a:noFill/>
          <a:ln/>
        </p:spPr>
        <p:txBody>
          <a:bodyPr wrap="square" rtlCol="0" anchor="ctr"/>
          <a:lstStyle/>
          <a:p>
            <a:pPr marL="0" indent="0">
              <a:lnSpc>
                <a:spcPts val="1600"/>
              </a:lnSpc>
              <a:buNone/>
            </a:pPr>
            <a:r>
              <a:rPr lang="en-US" sz="1200" dirty="0">
                <a:solidFill>
                  <a:srgbClr val="5A6B75"/>
                </a:solidFill>
                <a:latin typeface="Calibri" pitchFamily="34" charset="0"/>
                <a:ea typeface="Calibri" pitchFamily="34" charset="-122"/>
                <a:cs typeface="Calibri" pitchFamily="34" charset="-120"/>
              </a:rPr>
              <a:t>APF appears to improve as clutter rises. In absolute cells it covers 640 fewer; the free area simply shrinks faster.</a:t>
            </a:r>
            <a:endParaRPr lang="en-US" sz="1200" dirty="0"/>
          </a:p>
        </p:txBody>
      </p:sp>
      <p:sp>
        <p:nvSpPr>
          <p:cNvPr id="15" name="Shape 13"/>
          <p:cNvSpPr/>
          <p:nvPr/>
        </p:nvSpPr>
        <p:spPr>
          <a:xfrm>
            <a:off x="6172200" y="1225296"/>
            <a:ext cx="2423160" cy="2103120"/>
          </a:xfrm>
          <a:prstGeom prst="roundRect">
            <a:avLst>
              <a:gd name="adj" fmla="val 3478"/>
            </a:avLst>
          </a:prstGeom>
          <a:solidFill>
            <a:srgbClr val="FDF3F3"/>
          </a:solidFill>
          <a:ln w="11430">
            <a:solidFill>
              <a:srgbClr val="D64550"/>
            </a:solidFill>
            <a:prstDash val="solid"/>
          </a:ln>
        </p:spPr>
        <p:txBody>
          <a:bodyPr/>
          <a:lstStyle/>
          <a:p>
            <a:endParaRPr lang="en-US"/>
          </a:p>
        </p:txBody>
      </p:sp>
      <p:sp>
        <p:nvSpPr>
          <p:cNvPr id="16" name="Text 14"/>
          <p:cNvSpPr txBox="1"/>
          <p:nvPr/>
        </p:nvSpPr>
        <p:spPr>
          <a:xfrm>
            <a:off x="6309360" y="1371600"/>
            <a:ext cx="2148840" cy="237744"/>
          </a:xfrm>
          <a:prstGeom prst="rect">
            <a:avLst/>
          </a:prstGeom>
          <a:noFill/>
          <a:ln/>
        </p:spPr>
        <p:txBody>
          <a:bodyPr wrap="square" rtlCol="0" anchor="ctr"/>
          <a:lstStyle/>
          <a:p>
            <a:pPr marL="0" indent="0" algn="ctr">
              <a:buNone/>
            </a:pPr>
            <a:r>
              <a:rPr lang="en-US" sz="900" b="1" kern="0" spc="100" dirty="0">
                <a:solidFill>
                  <a:srgbClr val="D64550"/>
                </a:solidFill>
                <a:latin typeface="Calibri" pitchFamily="34" charset="0"/>
                <a:ea typeface="Calibri" pitchFamily="34" charset="-122"/>
                <a:cs typeface="Calibri" pitchFamily="34" charset="-120"/>
              </a:rPr>
              <a:t>THE RETRACTED FIGURE</a:t>
            </a:r>
            <a:endParaRPr lang="en-US" sz="900" dirty="0"/>
          </a:p>
        </p:txBody>
      </p:sp>
      <p:sp>
        <p:nvSpPr>
          <p:cNvPr id="17" name="Text 15"/>
          <p:cNvSpPr txBox="1"/>
          <p:nvPr/>
        </p:nvSpPr>
        <p:spPr>
          <a:xfrm>
            <a:off x="6309360" y="1645920"/>
            <a:ext cx="2148840" cy="585216"/>
          </a:xfrm>
          <a:prstGeom prst="rect">
            <a:avLst/>
          </a:prstGeom>
          <a:noFill/>
          <a:ln/>
        </p:spPr>
        <p:txBody>
          <a:bodyPr wrap="square" rtlCol="0" anchor="ctr"/>
          <a:lstStyle/>
          <a:p>
            <a:pPr marL="0" indent="0" algn="ctr">
              <a:buNone/>
            </a:pPr>
            <a:r>
              <a:rPr lang="en-US" sz="3400" b="1" strike="sngStrike" dirty="0">
                <a:solidFill>
                  <a:srgbClr val="C9A9A9"/>
                </a:solidFill>
                <a:latin typeface="Cambria" pitchFamily="34" charset="0"/>
                <a:ea typeface="Cambria" pitchFamily="34" charset="-122"/>
                <a:cs typeface="Cambria" pitchFamily="34" charset="-120"/>
              </a:rPr>
              <a:t>95.0%</a:t>
            </a:r>
            <a:endParaRPr lang="en-US" sz="3400" dirty="0"/>
          </a:p>
        </p:txBody>
      </p:sp>
      <p:sp>
        <p:nvSpPr>
          <p:cNvPr id="18" name="Text 16"/>
          <p:cNvSpPr txBox="1"/>
          <p:nvPr/>
        </p:nvSpPr>
        <p:spPr>
          <a:xfrm>
            <a:off x="6309360" y="2231136"/>
            <a:ext cx="2148840" cy="237744"/>
          </a:xfrm>
          <a:prstGeom prst="rect">
            <a:avLst/>
          </a:prstGeom>
          <a:noFill/>
          <a:ln/>
        </p:spPr>
        <p:txBody>
          <a:bodyPr wrap="square" rtlCol="0" anchor="ctr"/>
          <a:lstStyle/>
          <a:p>
            <a:pPr marL="0" indent="0" algn="ctr">
              <a:buNone/>
            </a:pPr>
            <a:r>
              <a:rPr lang="en-US" sz="1000" dirty="0">
                <a:solidFill>
                  <a:srgbClr val="5A6B75"/>
                </a:solidFill>
                <a:latin typeface="Calibri" pitchFamily="34" charset="0"/>
                <a:ea typeface="Calibri" pitchFamily="34" charset="-122"/>
                <a:cs typeface="Calibri" pitchFamily="34" charset="-120"/>
              </a:rPr>
              <a:t>could not be reproduced</a:t>
            </a:r>
            <a:endParaRPr lang="en-US" sz="1000" dirty="0"/>
          </a:p>
        </p:txBody>
      </p:sp>
      <p:sp>
        <p:nvSpPr>
          <p:cNvPr id="19" name="Text 17"/>
          <p:cNvSpPr txBox="1"/>
          <p:nvPr/>
        </p:nvSpPr>
        <p:spPr>
          <a:xfrm>
            <a:off x="6309360" y="2523744"/>
            <a:ext cx="2148840" cy="566928"/>
          </a:xfrm>
          <a:prstGeom prst="rect">
            <a:avLst/>
          </a:prstGeom>
          <a:noFill/>
          <a:ln/>
        </p:spPr>
        <p:txBody>
          <a:bodyPr wrap="square" rtlCol="0" anchor="ctr"/>
          <a:lstStyle/>
          <a:p>
            <a:pPr marL="0" indent="0" algn="ctr">
              <a:buNone/>
            </a:pPr>
            <a:r>
              <a:rPr lang="en-US" sz="3400" b="1" dirty="0">
                <a:solidFill>
                  <a:srgbClr val="22303C"/>
                </a:solidFill>
                <a:latin typeface="Cambria" pitchFamily="34" charset="0"/>
                <a:ea typeface="Cambria" pitchFamily="34" charset="-122"/>
                <a:cs typeface="Cambria" pitchFamily="34" charset="-120"/>
              </a:rPr>
              <a:t>90.0%</a:t>
            </a:r>
            <a:endParaRPr lang="en-US" sz="3400" dirty="0"/>
          </a:p>
        </p:txBody>
      </p:sp>
      <p:sp>
        <p:nvSpPr>
          <p:cNvPr id="20" name="Text 18"/>
          <p:cNvSpPr txBox="1"/>
          <p:nvPr/>
        </p:nvSpPr>
        <p:spPr>
          <a:xfrm>
            <a:off x="6309360" y="3090672"/>
            <a:ext cx="2148840" cy="237744"/>
          </a:xfrm>
          <a:prstGeom prst="rect">
            <a:avLst/>
          </a:prstGeom>
          <a:noFill/>
          <a:ln/>
        </p:spPr>
        <p:txBody>
          <a:bodyPr wrap="square" rtlCol="0" anchor="ctr"/>
          <a:lstStyle/>
          <a:p>
            <a:pPr marL="0" indent="0" algn="ctr">
              <a:buNone/>
            </a:pPr>
            <a:r>
              <a:rPr lang="en-US" sz="1000" dirty="0">
                <a:solidFill>
                  <a:srgbClr val="5A6B75"/>
                </a:solidFill>
                <a:latin typeface="Calibri" pitchFamily="34" charset="0"/>
                <a:ea typeface="Calibri" pitchFamily="34" charset="-122"/>
                <a:cs typeface="Calibri" pitchFamily="34" charset="-120"/>
              </a:rPr>
              <a:t>what it actually scores</a:t>
            </a:r>
            <a:endParaRPr lang="en-US" sz="1000" dirty="0"/>
          </a:p>
        </p:txBody>
      </p:sp>
      <p:sp>
        <p:nvSpPr>
          <p:cNvPr id="21" name="Text 19"/>
          <p:cNvSpPr txBox="1"/>
          <p:nvPr/>
        </p:nvSpPr>
        <p:spPr>
          <a:xfrm>
            <a:off x="6172200" y="3456432"/>
            <a:ext cx="2423160" cy="548640"/>
          </a:xfrm>
          <a:prstGeom prst="rect">
            <a:avLst/>
          </a:prstGeom>
          <a:noFill/>
          <a:ln/>
        </p:spPr>
        <p:txBody>
          <a:bodyPr wrap="square" rtlCol="0" anchor="ctr"/>
          <a:lstStyle/>
          <a:p>
            <a:pPr marL="0" indent="0">
              <a:lnSpc>
                <a:spcPts val="1400"/>
              </a:lnSpc>
              <a:buNone/>
            </a:pPr>
            <a:r>
              <a:rPr lang="en-US" sz="1050" i="1" dirty="0">
                <a:solidFill>
                  <a:srgbClr val="5A6B75"/>
                </a:solidFill>
                <a:latin typeface="Calibri" pitchFamily="34" charset="0"/>
                <a:ea typeface="Calibri" pitchFamily="34" charset="-122"/>
                <a:cs typeface="Calibri" pitchFamily="34" charset="-120"/>
              </a:rPr>
              <a:t>Reported in Section VI of the paper, not left for a reader to find.</a:t>
            </a:r>
            <a:endParaRPr lang="en-US" sz="1050" dirty="0"/>
          </a:p>
        </p:txBody>
      </p:sp>
      <p:sp>
        <p:nvSpPr>
          <p:cNvPr id="22" name="Text 20"/>
          <p:cNvSpPr txBox="1"/>
          <p:nvPr/>
        </p:nvSpPr>
        <p:spPr>
          <a:xfrm>
            <a:off x="548640" y="4443984"/>
            <a:ext cx="8046720" cy="320040"/>
          </a:xfrm>
          <a:prstGeom prst="rect">
            <a:avLst/>
          </a:prstGeom>
          <a:noFill/>
          <a:ln/>
        </p:spPr>
        <p:txBody>
          <a:bodyPr wrap="square" rtlCol="0" anchor="ctr"/>
          <a:lstStyle/>
          <a:p>
            <a:pPr marL="0" indent="0">
              <a:buNone/>
            </a:pPr>
            <a:r>
              <a:rPr lang="en-US" sz="1350" dirty="0">
                <a:solidFill>
                  <a:srgbClr val="22303C"/>
                </a:solidFill>
                <a:latin typeface="Calibri" pitchFamily="34" charset="0"/>
                <a:ea typeface="Calibri" pitchFamily="34" charset="-122"/>
                <a:cs typeface="Calibri" pitchFamily="34" charset="-120"/>
              </a:rPr>
              <a:t>None of this was required. All three are in the submitted report.</a:t>
            </a:r>
            <a:endParaRPr lang="en-US" sz="1350" dirty="0"/>
          </a:p>
        </p:txBody>
      </p:sp>
      <p:pic>
        <p:nvPicPr>
          <p:cNvPr id="26" name="Audio 25">
            <a:extLst>
              <a:ext uri="{FF2B5EF4-FFF2-40B4-BE49-F238E27FC236}">
                <a16:creationId xmlns:a16="http://schemas.microsoft.com/office/drawing/2014/main" id="{4F4085F3-F64E-A599-92BA-DE4B8B18D05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064"/>
    </mc:Choice>
    <mc:Fallback>
      <p:transition spd="slow" advTm="320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33"/>
        </a:solidFill>
        <a:effectLst/>
      </p:bgPr>
    </p:bg>
    <p:spTree>
      <p:nvGrpSpPr>
        <p:cNvPr id="1" name=""/>
        <p:cNvGrpSpPr/>
        <p:nvPr/>
      </p:nvGrpSpPr>
      <p:grpSpPr>
        <a:xfrm>
          <a:off x="0" y="0"/>
          <a:ext cx="0" cy="0"/>
          <a:chOff x="0" y="0"/>
          <a:chExt cx="0" cy="0"/>
        </a:xfrm>
      </p:grpSpPr>
      <p:sp>
        <p:nvSpPr>
          <p:cNvPr id="2" name="Text 0"/>
          <p:cNvSpPr txBox="1"/>
          <p:nvPr/>
        </p:nvSpPr>
        <p:spPr>
          <a:xfrm>
            <a:off x="640080" y="777240"/>
            <a:ext cx="7863840" cy="5486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it comes to</a:t>
            </a:r>
            <a:endParaRPr lang="en-US" sz="3200" dirty="0"/>
          </a:p>
        </p:txBody>
      </p:sp>
      <p:sp>
        <p:nvSpPr>
          <p:cNvPr id="3" name="Shape 1"/>
          <p:cNvSpPr/>
          <p:nvPr/>
        </p:nvSpPr>
        <p:spPr>
          <a:xfrm>
            <a:off x="658368" y="1783080"/>
            <a:ext cx="118872" cy="118872"/>
          </a:xfrm>
          <a:prstGeom prst="ellipse">
            <a:avLst/>
          </a:prstGeom>
          <a:solidFill>
            <a:srgbClr val="1F9E89"/>
          </a:solidFill>
          <a:ln/>
        </p:spPr>
        <p:txBody>
          <a:bodyPr/>
          <a:lstStyle/>
          <a:p>
            <a:endParaRPr lang="en-US"/>
          </a:p>
        </p:txBody>
      </p:sp>
      <p:sp>
        <p:nvSpPr>
          <p:cNvPr id="4" name="Text 2"/>
          <p:cNvSpPr txBox="1"/>
          <p:nvPr/>
        </p:nvSpPr>
        <p:spPr>
          <a:xfrm>
            <a:off x="969264" y="1691640"/>
            <a:ext cx="7589520" cy="329184"/>
          </a:xfrm>
          <a:prstGeom prst="rect">
            <a:avLst/>
          </a:prstGeom>
          <a:noFill/>
          <a:ln/>
        </p:spPr>
        <p:txBody>
          <a:bodyPr wrap="square"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A decentralised learned policy matches a tuned classical controller</a:t>
            </a:r>
            <a:endParaRPr lang="en-US" sz="1650" dirty="0"/>
          </a:p>
        </p:txBody>
      </p:sp>
      <p:sp>
        <p:nvSpPr>
          <p:cNvPr id="5" name="Text 3"/>
          <p:cNvSpPr txBox="1"/>
          <p:nvPr/>
        </p:nvSpPr>
        <p:spPr>
          <a:xfrm>
            <a:off x="969264" y="2039112"/>
            <a:ext cx="7589520" cy="310896"/>
          </a:xfrm>
          <a:prstGeom prst="rect">
            <a:avLst/>
          </a:prstGeom>
          <a:noFill/>
          <a:ln/>
        </p:spPr>
        <p:txBody>
          <a:bodyPr wrap="square" rtlCol="0" anchor="ctr"/>
          <a:lstStyle/>
          <a:p>
            <a:pPr marL="0" indent="0">
              <a:buNone/>
            </a:pPr>
            <a:r>
              <a:rPr lang="en-US" sz="1350" dirty="0">
                <a:solidFill>
                  <a:srgbClr val="8CA3B0"/>
                </a:solidFill>
                <a:latin typeface="Calibri" pitchFamily="34" charset="0"/>
                <a:ea typeface="Calibri" pitchFamily="34" charset="-122"/>
                <a:cs typeface="Calibri" pitchFamily="34" charset="-120"/>
              </a:rPr>
              <a:t>and beats it where the terrain offers least structure</a:t>
            </a:r>
            <a:endParaRPr lang="en-US" sz="1350" dirty="0"/>
          </a:p>
        </p:txBody>
      </p:sp>
      <p:sp>
        <p:nvSpPr>
          <p:cNvPr id="6" name="Shape 4"/>
          <p:cNvSpPr/>
          <p:nvPr/>
        </p:nvSpPr>
        <p:spPr>
          <a:xfrm>
            <a:off x="658368" y="2752344"/>
            <a:ext cx="118872" cy="118872"/>
          </a:xfrm>
          <a:prstGeom prst="ellipse">
            <a:avLst/>
          </a:prstGeom>
          <a:solidFill>
            <a:srgbClr val="1F9E89"/>
          </a:solidFill>
          <a:ln/>
        </p:spPr>
        <p:txBody>
          <a:bodyPr/>
          <a:lstStyle/>
          <a:p>
            <a:endParaRPr lang="en-US"/>
          </a:p>
        </p:txBody>
      </p:sp>
      <p:sp>
        <p:nvSpPr>
          <p:cNvPr id="7" name="Text 5"/>
          <p:cNvSpPr txBox="1"/>
          <p:nvPr/>
        </p:nvSpPr>
        <p:spPr>
          <a:xfrm>
            <a:off x="969264" y="2660904"/>
            <a:ext cx="7589520" cy="329184"/>
          </a:xfrm>
          <a:prstGeom prst="rect">
            <a:avLst/>
          </a:prstGeom>
          <a:noFill/>
          <a:ln/>
        </p:spPr>
        <p:txBody>
          <a:bodyPr wrap="square"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The reward scheme mattered more than the architecture</a:t>
            </a:r>
            <a:endParaRPr lang="en-US" sz="1650" dirty="0"/>
          </a:p>
        </p:txBody>
      </p:sp>
      <p:sp>
        <p:nvSpPr>
          <p:cNvPr id="8" name="Text 6"/>
          <p:cNvSpPr txBox="1"/>
          <p:nvPr/>
        </p:nvSpPr>
        <p:spPr>
          <a:xfrm>
            <a:off x="969264" y="3008376"/>
            <a:ext cx="7589520" cy="310896"/>
          </a:xfrm>
          <a:prstGeom prst="rect">
            <a:avLst/>
          </a:prstGeom>
          <a:noFill/>
          <a:ln/>
        </p:spPr>
        <p:txBody>
          <a:bodyPr wrap="square" rtlCol="0" anchor="ctr"/>
          <a:lstStyle/>
          <a:p>
            <a:pPr marL="0" indent="0">
              <a:buNone/>
            </a:pPr>
            <a:r>
              <a:rPr lang="en-US" sz="1350" dirty="0">
                <a:solidFill>
                  <a:srgbClr val="8CA3B0"/>
                </a:solidFill>
                <a:latin typeface="Calibri" pitchFamily="34" charset="0"/>
                <a:ea typeface="Calibri" pitchFamily="34" charset="-122"/>
                <a:cs typeface="Calibri" pitchFamily="34" charset="-120"/>
              </a:rPr>
              <a:t>30.6 points, from one controlled change</a:t>
            </a:r>
            <a:endParaRPr lang="en-US" sz="1350" dirty="0"/>
          </a:p>
        </p:txBody>
      </p:sp>
      <p:sp>
        <p:nvSpPr>
          <p:cNvPr id="9" name="Shape 7"/>
          <p:cNvSpPr/>
          <p:nvPr/>
        </p:nvSpPr>
        <p:spPr>
          <a:xfrm>
            <a:off x="658368" y="3721608"/>
            <a:ext cx="118872" cy="118872"/>
          </a:xfrm>
          <a:prstGeom prst="ellipse">
            <a:avLst/>
          </a:prstGeom>
          <a:solidFill>
            <a:srgbClr val="1F9E89"/>
          </a:solidFill>
          <a:ln/>
        </p:spPr>
        <p:txBody>
          <a:bodyPr/>
          <a:lstStyle/>
          <a:p>
            <a:endParaRPr lang="en-US"/>
          </a:p>
        </p:txBody>
      </p:sp>
      <p:sp>
        <p:nvSpPr>
          <p:cNvPr id="10" name="Text 8"/>
          <p:cNvSpPr txBox="1"/>
          <p:nvPr/>
        </p:nvSpPr>
        <p:spPr>
          <a:xfrm>
            <a:off x="969264" y="3630168"/>
            <a:ext cx="7589520" cy="329184"/>
          </a:xfrm>
          <a:prstGeom prst="rect">
            <a:avLst/>
          </a:prstGeom>
          <a:noFill/>
          <a:ln/>
        </p:spPr>
        <p:txBody>
          <a:bodyPr wrap="square"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Percentage coverage misleads when free area varies</a:t>
            </a:r>
            <a:endParaRPr lang="en-US" sz="1650" dirty="0"/>
          </a:p>
        </p:txBody>
      </p:sp>
      <p:sp>
        <p:nvSpPr>
          <p:cNvPr id="11" name="Text 9"/>
          <p:cNvSpPr txBox="1"/>
          <p:nvPr/>
        </p:nvSpPr>
        <p:spPr>
          <a:xfrm>
            <a:off x="969264" y="3977640"/>
            <a:ext cx="7589520" cy="310896"/>
          </a:xfrm>
          <a:prstGeom prst="rect">
            <a:avLst/>
          </a:prstGeom>
          <a:noFill/>
          <a:ln/>
        </p:spPr>
        <p:txBody>
          <a:bodyPr wrap="square" rtlCol="0" anchor="ctr"/>
          <a:lstStyle/>
          <a:p>
            <a:pPr marL="0" indent="0">
              <a:buNone/>
            </a:pPr>
            <a:r>
              <a:rPr lang="en-US" sz="1350" dirty="0">
                <a:solidFill>
                  <a:srgbClr val="8CA3B0"/>
                </a:solidFill>
                <a:latin typeface="Calibri" pitchFamily="34" charset="0"/>
                <a:ea typeface="Calibri" pitchFamily="34" charset="-122"/>
                <a:cs typeface="Calibri" pitchFamily="34" charset="-120"/>
              </a:rPr>
              <a:t>a caution for the wider literature</a:t>
            </a:r>
            <a:endParaRPr lang="en-US" sz="1350" dirty="0"/>
          </a:p>
        </p:txBody>
      </p:sp>
      <p:sp>
        <p:nvSpPr>
          <p:cNvPr id="12" name="Text 10"/>
          <p:cNvSpPr txBox="1"/>
          <p:nvPr/>
        </p:nvSpPr>
        <p:spPr>
          <a:xfrm>
            <a:off x="640080" y="4590288"/>
            <a:ext cx="7863840" cy="274320"/>
          </a:xfrm>
          <a:prstGeom prst="rect">
            <a:avLst/>
          </a:prstGeom>
          <a:noFill/>
          <a:ln/>
        </p:spPr>
        <p:txBody>
          <a:bodyPr wrap="square" rtlCol="0" anchor="ctr"/>
          <a:lstStyle/>
          <a:p>
            <a:pPr marL="0" indent="0">
              <a:buNone/>
            </a:pPr>
            <a:r>
              <a:rPr lang="en-US" sz="1150" dirty="0">
                <a:solidFill>
                  <a:srgbClr val="6E8794"/>
                </a:solidFill>
                <a:latin typeface="Calibri" pitchFamily="34" charset="0"/>
                <a:ea typeface="Calibri" pitchFamily="34" charset="-122"/>
                <a:cs typeface="Calibri" pitchFamily="34" charset="-120"/>
              </a:rPr>
              <a:t>1,600 runs  ·  paired tests  ·  effect sizes  ·  code, data and checkpoints submitted</a:t>
            </a:r>
            <a:endParaRPr lang="en-US" sz="1150" dirty="0"/>
          </a:p>
        </p:txBody>
      </p:sp>
      <p:pic>
        <p:nvPicPr>
          <p:cNvPr id="22" name="Audio 21">
            <a:extLst>
              <a:ext uri="{FF2B5EF4-FFF2-40B4-BE49-F238E27FC236}">
                <a16:creationId xmlns:a16="http://schemas.microsoft.com/office/drawing/2014/main" id="{9175A883-038C-8AA2-263F-005FD6A99AC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985"/>
    </mc:Choice>
    <mc:Fallback>
      <p:transition spd="slow" advTm="229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655</TotalTime>
  <Words>1108</Words>
  <Application>Microsoft Macintosh PowerPoint</Application>
  <PresentationFormat>On-screen Show (16:9)</PresentationFormat>
  <Paragraphs>106</Paragraphs>
  <Slides>8</Slides>
  <Notes>8</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Decentralised Search and Coverage with UAS Swarms</dc:title>
  <dc:subject>PptxGenJS Presentation</dc:subject>
  <dc:creator>Mahadev Reddy Devireddy Venkata</dc:creator>
  <cp:lastModifiedBy>Mahadev Devireddy Venkata (Student)</cp:lastModifiedBy>
  <cp:revision>2</cp:revision>
  <dcterms:created xsi:type="dcterms:W3CDTF">2026-09-04T03:07:35Z</dcterms:created>
  <dcterms:modified xsi:type="dcterms:W3CDTF">2026-09-04T14:09:04Z</dcterms:modified>
</cp:coreProperties>
</file>